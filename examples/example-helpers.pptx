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00000"/>
            <a:ext cx="12192000" cy="260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400000"/>
            <a:ext cx="12192000" cy="50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950000"/>
            <a:ext cx="12192000" cy="50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7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微软雅黑"/>
              </a:rPr>
              <a:t>pptx_helpers 示例演示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40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BDC3C7"/>
                </a:solidFill>
                <a:latin typeface="微软雅黑"/>
              </a:rPr>
              <a:t>元素级组件库  |  3 套配色  |  12 个 Helper  |  开箱即用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1A8A8A"/>
                </a:solidFill>
                <a:latin typeface="Courier New"/>
              </a:rPr>
              <a:t>from pptx_helpers import 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000" y="6508000"/>
            <a:ext cx="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D6D7E"/>
                </a:solidFill>
                <a:latin typeface="微软雅黑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5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000"/>
            <a:ext cx="12192000" cy="32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0000" y="180000"/>
            <a:ext cx="10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3A5C"/>
                </a:solidFill>
                <a:latin typeface="微软雅黑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58000"/>
            <a:ext cx="12192000" cy="10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0000" y="1000000"/>
            <a:ext cx="500000" cy="400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00" y="1030000"/>
            <a:ext cx="4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A8A8A"/>
                </a:solidFill>
                <a:latin typeface="微软雅黑"/>
              </a:rPr>
              <a:t>基础元素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0000" y="1060000"/>
            <a:ext cx="5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D6D7E"/>
                </a:solidFill>
                <a:latin typeface="微软雅黑"/>
              </a:rPr>
              <a:t>矩形色块 + 文本框 + 多行文本</a:t>
            </a:r>
          </a:p>
        </p:txBody>
      </p:sp>
      <p:sp>
        <p:nvSpPr>
          <p:cNvPr id="9" name="Rectangle 8"/>
          <p:cNvSpPr/>
          <p:nvPr/>
        </p:nvSpPr>
        <p:spPr>
          <a:xfrm>
            <a:off x="400000" y="1850000"/>
            <a:ext cx="500000" cy="40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00" y="1880000"/>
            <a:ext cx="4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B3A5C"/>
                </a:solidFill>
                <a:latin typeface="微软雅黑"/>
              </a:rPr>
              <a:t>表格与单元格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0000" y="1910000"/>
            <a:ext cx="5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D6D7E"/>
                </a:solidFill>
                <a:latin typeface="微软雅黑"/>
              </a:rPr>
              <a:t>创建表格 + 填充 + 样式化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0000" y="2700000"/>
            <a:ext cx="500000" cy="400000"/>
          </a:xfrm>
          <a:prstGeom prst="rect">
            <a:avLst/>
          </a:prstGeom>
          <a:solidFill>
            <a:srgbClr val="D48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00" y="2730000"/>
            <a:ext cx="4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D4880F"/>
                </a:solidFill>
                <a:latin typeface="微软雅黑"/>
              </a:rPr>
              <a:t>代码块与信息框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0000" y="2760000"/>
            <a:ext cx="5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D6D7E"/>
                </a:solidFill>
                <a:latin typeface="微软雅黑"/>
              </a:rPr>
              <a:t>深色代码块 + 高亮框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0000" y="3550000"/>
            <a:ext cx="500000" cy="40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000" y="3580000"/>
            <a:ext cx="4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0392B"/>
                </a:solidFill>
                <a:latin typeface="微软雅黑"/>
              </a:rPr>
              <a:t>徽章与章节标记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0000" y="3610000"/>
            <a:ext cx="5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D6D7E"/>
                </a:solidFill>
                <a:latin typeface="微软雅黑"/>
              </a:rPr>
              <a:t>标签徽章 + 幕标题条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000" y="4400000"/>
            <a:ext cx="500000" cy="4000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000" y="4430000"/>
            <a:ext cx="4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7AE60"/>
                </a:solidFill>
                <a:latin typeface="微软雅黑"/>
              </a:rPr>
              <a:t>富文本列表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0000" y="4460000"/>
            <a:ext cx="5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D6D7E"/>
                </a:solidFill>
                <a:latin typeface="微软雅黑"/>
              </a:rPr>
              <a:t>每行独立样式的列表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0000" y="5250000"/>
            <a:ext cx="500000" cy="4000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000" y="5280000"/>
            <a:ext cx="4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67E22"/>
                </a:solidFill>
                <a:latin typeface="微软雅黑"/>
              </a:rPr>
              <a:t>配色方案对比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0000" y="5310000"/>
            <a:ext cx="5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D6D7E"/>
                </a:solidFill>
                <a:latin typeface="微软雅黑"/>
              </a:rPr>
              <a:t>3 套内置配色方案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000" y="6508000"/>
            <a:ext cx="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D6D7E"/>
                </a:solidFill>
                <a:latin typeface="微软雅黑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5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000"/>
            <a:ext cx="12192000" cy="32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0000" y="180000"/>
            <a:ext cx="10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3A5C"/>
                </a:solidFill>
                <a:latin typeface="微软雅黑"/>
              </a:rPr>
              <a:t>基础元素演示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" y="58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D6D7E"/>
                </a:solidFill>
                <a:latin typeface="微软雅黑"/>
              </a:rPr>
              <a:t>add_bg + tb + ml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58000"/>
            <a:ext cx="12192000" cy="10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0000" y="880000"/>
            <a:ext cx="11300000" cy="45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0000" y="940000"/>
            <a:ext cx="1200000" cy="340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第一幕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0000" y="955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A8A8A"/>
                </a:solidFill>
                <a:latin typeface="微软雅黑"/>
              </a:rPr>
              <a:t>基础元素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0000" y="1500000"/>
            <a:ext cx="3500000" cy="2000000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1600000"/>
            <a:ext cx="3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3A5C"/>
                </a:solidFill>
                <a:latin typeface="微软雅黑"/>
              </a:rPr>
              <a:t>add_bg() — 矩形色块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000" y="2000000"/>
            <a:ext cx="32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200" b="0">
                <a:solidFill>
                  <a:srgbClr val="2D3436"/>
                </a:solidFill>
                <a:latin typeface="微软雅黑"/>
              </a:rPr>
              <a:t>纯色填充矩形</a:t>
            </a: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200" b="0">
                <a:solidFill>
                  <a:srgbClr val="2D3436"/>
                </a:solidFill>
                <a:latin typeface="微软雅黑"/>
              </a:rPr>
              <a:t>无边框、无阴影</a:t>
            </a: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200" b="0">
                <a:solidFill>
                  <a:srgbClr val="2D3436"/>
                </a:solidFill>
                <a:latin typeface="微软雅黑"/>
              </a:rPr>
              <a:t>可作为背景、色块、表头底色</a:t>
            </a: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200" b="0">
                <a:solidFill>
                  <a:srgbClr val="2D3436"/>
                </a:solidFill>
                <a:latin typeface="微软雅黑"/>
              </a:rPr>
              <a:t>最常用的基础元素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00000" y="1500000"/>
            <a:ext cx="3500000" cy="2000000"/>
          </a:xfrm>
          <a:prstGeom prst="rect">
            <a:avLst/>
          </a:prstGeom>
          <a:solidFill>
            <a:srgbClr val="E8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0000" y="1600000"/>
            <a:ext cx="3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7AE60"/>
                </a:solidFill>
                <a:latin typeface="微软雅黑"/>
              </a:rPr>
              <a:t>tb() — 单行文本框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0000" y="2050000"/>
            <a:ext cx="3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D3436"/>
                </a:solidFill>
                <a:latin typeface="微软雅黑"/>
              </a:rPr>
              <a:t>字号、加粗、颜色、对齐、字体、行距全可控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0000" y="2450000"/>
            <a:ext cx="3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D6D7E"/>
                </a:solidFill>
                <a:latin typeface="微软雅黑"/>
              </a:rPr>
              <a:t>← 24pt 粗体 Navy 居中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0000" y="2800000"/>
            <a:ext cx="3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D6D7E"/>
                </a:solidFill>
                <a:latin typeface="微软雅黑"/>
              </a:rPr>
              <a:t>← 12pt 普通 Green 左对齐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50000" y="1500000"/>
            <a:ext cx="3900000" cy="2000000"/>
          </a:xfrm>
          <a:prstGeom prst="rect">
            <a:avLst/>
          </a:prstGeom>
          <a:solidFill>
            <a:srgbClr val="FEF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0000" y="1600000"/>
            <a:ext cx="3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4880F"/>
                </a:solidFill>
                <a:latin typeface="微软雅黑"/>
              </a:rPr>
              <a:t>ml() — 多行文本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0000" y="2000000"/>
            <a:ext cx="36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200" b="0">
                <a:solidFill>
                  <a:srgbClr val="2D3436"/>
                </a:solidFill>
                <a:latin typeface="微软雅黑"/>
              </a:rPr>
              <a:t>支持 bullet 项目符号</a:t>
            </a: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200" b="0">
                <a:solidFill>
                  <a:srgbClr val="2D3436"/>
                </a:solidFill>
                <a:latin typeface="微软雅黑"/>
              </a:rPr>
              <a:t>行距可调 (ls=1.3)</a:t>
            </a: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200" b="0">
                <a:solidFill>
                  <a:srgbClr val="2D3436"/>
                </a:solidFill>
                <a:latin typeface="微软雅黑"/>
              </a:rPr>
              <a:t>可设置加粗、对齐</a:t>
            </a: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200" b="0">
                <a:solidFill>
                  <a:srgbClr val="2D3436"/>
                </a:solidFill>
                <a:latin typeface="微软雅黑"/>
              </a:rPr>
              <a:t>适合列举要点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0000" y="3800000"/>
            <a:ext cx="1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调用示例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0000" y="4200000"/>
            <a:ext cx="11300000" cy="2100000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0000" y="4240000"/>
            <a:ext cx="11180000" cy="2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add_bg(s, Emu(350000), Emu(1500000), Emu(3500000), Emu(2000000), C['light_blue'])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/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tb(s, l, t, w, h, '标题文本', sz=24, b=True, c=C['navy'], C=C)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/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ml(s, l, t, w, h,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   ['第一行', '第二行', '第三行'],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   sz=12, bullet=True, ls=1.4, C=C)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000" y="6508000"/>
            <a:ext cx="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D6D7E"/>
                </a:solidFill>
                <a:latin typeface="微软雅黑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5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000"/>
            <a:ext cx="12192000" cy="32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0000" y="180000"/>
            <a:ext cx="10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3A5C"/>
                </a:solidFill>
                <a:latin typeface="微软雅黑"/>
              </a:rPr>
              <a:t>表格演示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" y="58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D6D7E"/>
                </a:solidFill>
                <a:latin typeface="微软雅黑"/>
              </a:rPr>
              <a:t>ct + ft + sc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58000"/>
            <a:ext cx="12192000" cy="10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0000" y="880000"/>
            <a:ext cx="11300000" cy="45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0000" y="940000"/>
            <a:ext cx="1200000" cy="34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第二幕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0000" y="955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表格与单元格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50000" y="1500000"/>
          <a:ext cx="8200000" cy="4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00"/>
                <a:gridCol w="3200000"/>
                <a:gridCol w="1500000"/>
                <a:gridCol w="1500000"/>
              </a:tblGrid>
              <a:tr h="500000">
                <a:tc>
                  <a:txBody>
                    <a:bodyPr wrap="square" lIns="72000" rIns="72000" tIns="36000" bIns="36000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Helper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用途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使用频次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粒度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500000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add_bg()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纯色矩形背景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元素级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</a:tr>
              <a:tr h="500000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tb()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单行文本框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元素级</a:t>
                      </a:r>
                    </a:p>
                  </a:txBody>
                  <a:tcPr anchor="ctr"/>
                </a:tc>
              </a:tr>
              <a:tr h="500000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ml()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多行文本 + bullet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元素级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</a:tr>
              <a:tr h="500000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ct() + ft()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创建表格 + 填充数据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元素级</a:t>
                      </a:r>
                    </a:p>
                  </a:txBody>
                  <a:tcPr anchor="ctr"/>
                </a:tc>
              </a:tr>
              <a:tr h="500000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sc()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设置单元格样式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单元格级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</a:tr>
              <a:tr h="500000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code()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深色代码块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中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元素级</a:t>
                      </a:r>
                    </a:p>
                  </a:txBody>
                  <a:tcPr anchor="ctr"/>
                </a:tc>
              </a:tr>
              <a:tr h="500000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hbox()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带标题的信息框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元素级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</a:tr>
              <a:tr h="500000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badge()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序号/标签徽章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中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元素级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8800000" y="1500000"/>
            <a:ext cx="3100000" cy="4500000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50000" y="1600000"/>
            <a:ext cx="28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sc() 单元格样式化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00000" y="2050000"/>
            <a:ext cx="3000000" cy="3700000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0000" y="2090000"/>
            <a:ext cx="2880000" cy="3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E0E0E0"/>
                </a:solidFill>
                <a:latin typeface="Courier New"/>
              </a:rPr>
              <a:t># 设置单元格样式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E0E0E0"/>
                </a:solidFill>
                <a:latin typeface="Courier New"/>
              </a:rPr>
              <a:t>sc(tbl.cell(1,2),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E0E0E0"/>
                </a:solidFill>
                <a:latin typeface="Courier New"/>
              </a:rPr>
              <a:t>   '✅ 通过',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E0E0E0"/>
                </a:solidFill>
                <a:latin typeface="Courier New"/>
              </a:rPr>
              <a:t>   sz=12,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E0E0E0"/>
                </a:solidFill>
                <a:latin typeface="Courier New"/>
              </a:rPr>
              <a:t>   b=True,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E0E0E0"/>
                </a:solidFill>
                <a:latin typeface="Courier New"/>
              </a:rPr>
              <a:t>   fc=C['green'],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E0E0E0"/>
                </a:solidFill>
                <a:latin typeface="Courier New"/>
              </a:rPr>
              <a:t>   bg=C['light_green'],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E0E0E0"/>
                </a:solidFill>
                <a:latin typeface="Courier New"/>
              </a:rPr>
              <a:t>   al=PP_ALIGN.CENTER,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E0E0E0"/>
                </a:solidFill>
                <a:latin typeface="Courier New"/>
              </a:rPr>
              <a:t>   C=C)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E0E0E0"/>
                </a:solidFill>
                <a:latin typeface="Courier New"/>
              </a:rPr>
              <a:t/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E0E0E0"/>
                </a:solidFill>
                <a:latin typeface="Courier New"/>
              </a:rPr>
              <a:t># 红色警告单元格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E0E0E0"/>
                </a:solidFill>
                <a:latin typeface="Courier New"/>
              </a:rPr>
              <a:t>sc(tbl.cell(2,2),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E0E0E0"/>
                </a:solidFill>
                <a:latin typeface="Courier New"/>
              </a:rPr>
              <a:t>   '❌ 失败',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E0E0E0"/>
                </a:solidFill>
                <a:latin typeface="Courier New"/>
              </a:rPr>
              <a:t>   fc=C['red'],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E0E0E0"/>
                </a:solidFill>
                <a:latin typeface="Courier New"/>
              </a:rPr>
              <a:t>   bg=C['light_red'],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E0E0E0"/>
                </a:solidFill>
                <a:latin typeface="Courier New"/>
              </a:rPr>
              <a:t>   C=C)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000" y="6508000"/>
            <a:ext cx="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D6D7E"/>
                </a:solidFill>
                <a:latin typeface="微软雅黑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5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000"/>
            <a:ext cx="12192000" cy="32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0000" y="180000"/>
            <a:ext cx="10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3A5C"/>
                </a:solidFill>
                <a:latin typeface="微软雅黑"/>
              </a:rPr>
              <a:t>代码块与信息框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" y="58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D6D7E"/>
                </a:solidFill>
                <a:latin typeface="微软雅黑"/>
              </a:rPr>
              <a:t>code + hbox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58000"/>
            <a:ext cx="12192000" cy="10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0000" y="880000"/>
            <a:ext cx="11300000" cy="45000"/>
          </a:xfrm>
          <a:prstGeom prst="rect">
            <a:avLst/>
          </a:prstGeom>
          <a:solidFill>
            <a:srgbClr val="D48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0000" y="940000"/>
            <a:ext cx="1200000" cy="340000"/>
          </a:xfrm>
          <a:prstGeom prst="rect">
            <a:avLst/>
          </a:prstGeom>
          <a:solidFill>
            <a:srgbClr val="D48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第三幕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0000" y="955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D4880F"/>
                </a:solidFill>
                <a:latin typeface="微软雅黑"/>
              </a:rPr>
              <a:t>代码块与信息框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000" y="1500000"/>
            <a:ext cx="5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3A5C"/>
                </a:solidFill>
                <a:latin typeface="微软雅黑"/>
              </a:rPr>
              <a:t>code() — 深色背景代码块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000" y="1900000"/>
            <a:ext cx="5500000" cy="1800000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000" y="1940000"/>
            <a:ext cx="5380000" cy="1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E0E0E0"/>
                </a:solidFill>
                <a:latin typeface="Courier New"/>
              </a:rPr>
              <a:t>from pptx_helpers import *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E0E0E0"/>
                </a:solidFill>
                <a:latin typeface="Courier New"/>
              </a:rPr>
              <a:t/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E0E0E0"/>
                </a:solidFill>
                <a:latin typeface="Courier New"/>
              </a:rPr>
              <a:t>prs, C = create_prs("navy_teal")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E0E0E0"/>
                </a:solidFill>
                <a:latin typeface="Courier New"/>
              </a:rPr>
              <a:t/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E0E0E0"/>
                </a:solidFill>
                <a:latin typeface="Courier New"/>
              </a:rPr>
              <a:t>def build_slide_01(prs, C):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E0E0E0"/>
                </a:solidFill>
                <a:latin typeface="Courier New"/>
              </a:rPr>
              <a:t>    s = prs.slides.add_slide(prs.slide_layouts[6])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E0E0E0"/>
                </a:solidFill>
                <a:latin typeface="Courier New"/>
              </a:rPr>
              <a:t>    bar(s, "标题", "副标题", C=C)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E0E0E0"/>
                </a:solidFill>
                <a:latin typeface="Courier New"/>
              </a:rPr>
              <a:t>    sn(s, 1, 10, C=C)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0000" y="1500000"/>
            <a:ext cx="5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3A5C"/>
                </a:solidFill>
                <a:latin typeface="微软雅黑"/>
              </a:rPr>
              <a:t>hbox() — 带标题的高亮信息框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00000" y="1900000"/>
            <a:ext cx="5600000" cy="1800000"/>
          </a:xfrm>
          <a:prstGeom prst="rect">
            <a:avLst/>
          </a:prstGeom>
          <a:solidFill>
            <a:srgbClr val="E8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80000" y="1960000"/>
            <a:ext cx="544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7AE60"/>
                </a:solidFill>
                <a:latin typeface="微软雅黑"/>
              </a:rPr>
              <a:t>优点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0000" y="2230000"/>
            <a:ext cx="5440000" cy="1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支持标题 + 多行内容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可自定义背景色和标题色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自带 bullet 列表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适合左右对比布局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000" y="4000000"/>
            <a:ext cx="1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双栏对比布局示例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0000" y="4400000"/>
            <a:ext cx="5500000" cy="2000000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0000" y="4460000"/>
            <a:ext cx="534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方案 A：短期修复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0000" y="4730000"/>
            <a:ext cx="53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零成本实施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不需要重新编译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覆盖 80% 场景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0000" y="4400000"/>
            <a:ext cx="5600000" cy="2000000"/>
          </a:xfrm>
          <a:prstGeom prst="rect">
            <a:avLst/>
          </a:prstGeom>
          <a:solidFill>
            <a:srgbClr val="FEF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80000" y="4460000"/>
            <a:ext cx="544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D4880F"/>
                </a:solidFill>
                <a:latin typeface="微软雅黑"/>
              </a:rPr>
              <a:t>方案 B：架构升级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0000" y="4730000"/>
            <a:ext cx="5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需要 1-3 个月开发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根本解决问题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覆盖 100% 场景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000" y="6508000"/>
            <a:ext cx="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D6D7E"/>
                </a:solidFill>
                <a:latin typeface="微软雅黑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5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000"/>
            <a:ext cx="12192000" cy="32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0000" y="180000"/>
            <a:ext cx="10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3A5C"/>
                </a:solidFill>
                <a:latin typeface="微软雅黑"/>
              </a:rPr>
              <a:t>徽章与章节标记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" y="58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D6D7E"/>
                </a:solidFill>
                <a:latin typeface="微软雅黑"/>
              </a:rPr>
              <a:t>badge + act_badge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58000"/>
            <a:ext cx="12192000" cy="10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0000" y="880000"/>
            <a:ext cx="11300000" cy="45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0000" y="940000"/>
            <a:ext cx="1200000" cy="34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第四幕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0000" y="955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0392B"/>
                </a:solidFill>
                <a:latin typeface="微软雅黑"/>
              </a:rPr>
              <a:t>徽章与章节标记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000" y="1500000"/>
            <a:ext cx="5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3A5C"/>
                </a:solidFill>
                <a:latin typeface="微软雅黑"/>
              </a:rPr>
              <a:t>badge() — 序号/标签徽章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0000" y="1950000"/>
            <a:ext cx="700000" cy="40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00000" y="1950000"/>
            <a:ext cx="700000" cy="400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00000" y="1950000"/>
            <a:ext cx="700000" cy="400000"/>
          </a:xfrm>
          <a:prstGeom prst="rect">
            <a:avLst/>
          </a:prstGeom>
          <a:solidFill>
            <a:srgbClr val="D48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00000" y="1950000"/>
            <a:ext cx="700000" cy="40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P0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0000" y="1950000"/>
            <a:ext cx="700000" cy="4000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OK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0000" y="1950000"/>
            <a:ext cx="700000" cy="4000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000" y="2700000"/>
            <a:ext cx="1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3A5C"/>
                </a:solidFill>
                <a:latin typeface="微软雅黑"/>
              </a:rPr>
              <a:t>act_badge() — 章节标记条（每一幕的开头）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0000" y="3200000"/>
            <a:ext cx="11300000" cy="45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0000" y="3260000"/>
            <a:ext cx="1200000" cy="34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第一幕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50000" y="3275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0392B"/>
                </a:solidFill>
                <a:latin typeface="微软雅黑"/>
              </a:rPr>
              <a:t>问题发现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0000" y="3750000"/>
            <a:ext cx="11300000" cy="45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0000" y="3810000"/>
            <a:ext cx="1200000" cy="340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第二幕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50000" y="3825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A8A8A"/>
                </a:solidFill>
                <a:latin typeface="微软雅黑"/>
              </a:rPr>
              <a:t>系统测试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0000" y="4300000"/>
            <a:ext cx="11300000" cy="450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" y="4360000"/>
            <a:ext cx="1200000" cy="3400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第三幕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50000" y="4375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7AE60"/>
                </a:solidFill>
                <a:latin typeface="微软雅黑"/>
              </a:rPr>
              <a:t>解决方案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0000" y="4850000"/>
            <a:ext cx="11300000" cy="45000"/>
          </a:xfrm>
          <a:prstGeom prst="rect">
            <a:avLst/>
          </a:prstGeom>
          <a:solidFill>
            <a:srgbClr val="D48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0000" y="4910000"/>
            <a:ext cx="1200000" cy="340000"/>
          </a:xfrm>
          <a:prstGeom prst="rect">
            <a:avLst/>
          </a:prstGeom>
          <a:solidFill>
            <a:srgbClr val="D48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第四幕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0000" y="4925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D4880F"/>
                </a:solidFill>
                <a:latin typeface="微软雅黑"/>
              </a:rPr>
              <a:t>竞品对比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0000" y="5500000"/>
            <a:ext cx="11300000" cy="800000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0000" y="5540000"/>
            <a:ext cx="111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E0E0E0"/>
                </a:solidFill>
                <a:latin typeface="Courier New"/>
              </a:rPr>
              <a:t>badge(s, l, t, w, h, 'P0', C['red'], C=C)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E0E0E0"/>
                </a:solidFill>
                <a:latin typeface="Courier New"/>
              </a:rPr>
              <a:t/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E0E0E0"/>
                </a:solidFill>
                <a:latin typeface="Courier New"/>
              </a:rPr>
              <a:t>act_badge(s, Emu(350000), Emu(880000), '一', '章节标题', C['teal'], C=C)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000" y="6508000"/>
            <a:ext cx="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D6D7E"/>
                </a:solidFill>
                <a:latin typeface="微软雅黑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5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000"/>
            <a:ext cx="12192000" cy="32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0000" y="180000"/>
            <a:ext cx="10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3A5C"/>
                </a:solidFill>
                <a:latin typeface="微软雅黑"/>
              </a:rPr>
              <a:t>富文本列表 &amp; 配色方案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" y="58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D6D7E"/>
                </a:solidFill>
                <a:latin typeface="微软雅黑"/>
              </a:rPr>
              <a:t>rl + create_prs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58000"/>
            <a:ext cx="12192000" cy="10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0000" y="950000"/>
            <a:ext cx="5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3A5C"/>
                </a:solidFill>
                <a:latin typeface="微软雅黑"/>
              </a:rPr>
              <a:t>rl() — 每行独立样式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00" y="1400000"/>
            <a:ext cx="50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400" b="1">
                <a:solidFill>
                  <a:srgbClr val="C0392B"/>
                </a:solidFill>
                <a:latin typeface="微软雅黑"/>
              </a:rPr>
              <a:t>★ P0：立即执行的修复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400" b="1">
                <a:solidFill>
                  <a:srgbClr val="D4880F"/>
                </a:solidFill>
                <a:latin typeface="微软雅黑"/>
              </a:rPr>
              <a:t>★ P1：短期优化方案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400" b="1">
                <a:solidFill>
                  <a:srgbClr val="1A8A8A"/>
                </a:solidFill>
                <a:latin typeface="微软雅黑"/>
              </a:rPr>
              <a:t>★ P2：中期架构升级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200" b="0">
                <a:solidFill>
                  <a:srgbClr val="2D3436"/>
                </a:solidFill>
                <a:latin typeface="微软雅黑"/>
              </a:rPr>
              <a:t>— 普通文本行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5D6D7E"/>
                </a:solidFill>
                <a:latin typeface="微软雅黑"/>
              </a:rPr>
              <a:t>— 灰色注释行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00000" y="950000"/>
            <a:ext cx="5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3A5C"/>
                </a:solidFill>
                <a:latin typeface="微软雅黑"/>
              </a:rPr>
              <a:t>3 套内置配色方案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100000" y="1400000"/>
          <a:ext cx="6000000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000"/>
                <a:gridCol w="1500000"/>
                <a:gridCol w="1500000"/>
                <a:gridCol w="1800000"/>
              </a:tblGrid>
              <a:tr h="500000">
                <a:tc>
                  <a:txBody>
                    <a:bodyPr wrap="square" lIns="72000" rIns="72000" tIns="36000" bIns="36000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方案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主色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辅色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适用场景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500000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navy_teal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Navy #1B3A5C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Teal #1A8A8A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技术汇报、产品分析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</a:tr>
              <a:tr h="500000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tech_dark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Dark #0F0F23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Cyan #00D9FF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AI/科技、深色演示</a:t>
                      </a:r>
                    </a:p>
                  </a:txBody>
                  <a:tcPr anchor="ctr"/>
                </a:tc>
              </a:tr>
              <a:tr h="500000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corporate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Blue #2E5C9A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Blue #2E5C9A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企业正式、白底蓝头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50000" y="4000000"/>
            <a:ext cx="11300000" cy="2400000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000" y="4040000"/>
            <a:ext cx="11180000" cy="2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# 富文本列表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items = [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    ('P0 紧急修复', 14, True, C['red']),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    ('P1 优化方案', 14, True, C['amber']),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    ('普通说明',    12, False, C['black']),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]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rl(s, l, t, w, h, items, ls=1.5, C=C)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/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# 批次执行 builders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builder_batches = [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    [build_slide_01, build_slide_02],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]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prs, C = create_prs('corporate')   # 企业正式风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000" y="6508000"/>
            <a:ext cx="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D6D7E"/>
                </a:solidFill>
                <a:latin typeface="微软雅黑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00000"/>
            <a:ext cx="12192000" cy="50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00000"/>
            <a:ext cx="12192000" cy="50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000" y="2900000"/>
            <a:ext cx="10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微软雅黑"/>
              </a:rPr>
              <a:t>pptx_helpers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350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BDC3C7"/>
                </a:solidFill>
                <a:latin typeface="微软雅黑"/>
              </a:rPr>
              <a:t>元素级组件库  ·  开箱即用  ·  专为复杂混合布局设计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47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1A8A8A"/>
                </a:solidFill>
                <a:latin typeface="Courier New"/>
              </a:rPr>
              <a:t>github.com/Ami-zhang/pptx-creator-agent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000" y="6508000"/>
            <a:ext cx="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D6D7E"/>
                </a:solidFill>
                <a:latin typeface="微软雅黑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