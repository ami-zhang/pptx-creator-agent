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16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0" y="3657600"/>
            <a:ext cx="1097280" cy="1097280"/>
          </a:xfrm>
          <a:prstGeom prst="ellipse">
            <a:avLst/>
          </a:prstGeom>
          <a:solidFill>
            <a:srgbClr val="764BA2">
              <a:lumMod val="30000"/>
              <a:lumOff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1097280"/>
            <a:ext cx="548640" cy="548640"/>
          </a:xfrm>
          <a:prstGeom prst="ellipse">
            <a:avLst/>
          </a:prstGeom>
          <a:solidFill>
            <a:srgbClr val="00D9FF">
              <a:lumMod val="20000"/>
              <a:lumOff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Arial"/>
              </a:defRPr>
            </a:pPr>
            <a:r>
              <a:t>人工智能发展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67EEA"/>
                </a:solidFill>
                <a:latin typeface="Arial"/>
              </a:defRPr>
            </a:pPr>
            <a:r>
              <a:t>从过去到未来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Arial"/>
              </a:defRPr>
            </a:pPr>
            <a:r>
              <a:t>探索AI技术的演进历程与未来趋势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663440"/>
            <a:ext cx="7315200" cy="25400"/>
          </a:xfrm>
          <a:prstGeom prst="rect">
            <a:avLst/>
          </a:prstGeom>
          <a:solidFill>
            <a:srgbClr val="33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AI发展历程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05840"/>
            <a:ext cx="822960" cy="45720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1956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1005840"/>
            <a:ext cx="6949440" cy="5029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63040" y="1005840"/>
            <a:ext cx="50800" cy="502920"/>
          </a:xfrm>
          <a:prstGeom prst="rect">
            <a:avLst/>
          </a:prstGeom>
          <a:solidFill>
            <a:srgbClr val="00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1115568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D9FF"/>
                </a:solidFill>
                <a:latin typeface="Arial"/>
              </a:rPr>
              <a:t>达特茅斯会议</a:t>
            </a:r>
            <a:r>
              <a:rPr sz="1300">
                <a:solidFill>
                  <a:srgbClr val="FFFFFF"/>
                </a:solidFill>
                <a:latin typeface="Arial"/>
              </a:rPr>
              <a:t> - 人工智能概念正式诞生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822960" cy="45720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874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1997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1783080"/>
            <a:ext cx="6949440" cy="5029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63040" y="1783080"/>
            <a:ext cx="50800" cy="502920"/>
          </a:xfrm>
          <a:prstGeom prst="rect">
            <a:avLst/>
          </a:prstGeom>
          <a:solidFill>
            <a:srgbClr val="00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1892808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D9FF"/>
                </a:solidFill>
                <a:latin typeface="Arial"/>
              </a:rPr>
              <a:t>深蓝战胜卡斯帕罗夫</a:t>
            </a:r>
            <a:r>
              <a:rPr sz="1300">
                <a:solidFill>
                  <a:srgbClr val="FFFFFF"/>
                </a:solidFill>
                <a:latin typeface="Arial"/>
              </a:rPr>
              <a:t> - AI在国际象棋领域超越人类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560320"/>
            <a:ext cx="822960" cy="45720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65176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2012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2560320"/>
            <a:ext cx="6949440" cy="5029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463040" y="2560320"/>
            <a:ext cx="50800" cy="502920"/>
          </a:xfrm>
          <a:prstGeom prst="rect">
            <a:avLst/>
          </a:prstGeom>
          <a:solidFill>
            <a:srgbClr val="00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45920" y="2670048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D9FF"/>
                </a:solidFill>
                <a:latin typeface="Arial"/>
              </a:rPr>
              <a:t>深度学习突破</a:t>
            </a:r>
            <a:r>
              <a:rPr sz="1300">
                <a:solidFill>
                  <a:srgbClr val="FFFFFF"/>
                </a:solidFill>
                <a:latin typeface="Arial"/>
              </a:rPr>
              <a:t> - AlexNet引发深度学习革命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337560"/>
            <a:ext cx="822960" cy="45720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4290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2016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40" y="3337560"/>
            <a:ext cx="6949440" cy="5029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63040" y="3337560"/>
            <a:ext cx="50800" cy="502920"/>
          </a:xfrm>
          <a:prstGeom prst="rect">
            <a:avLst/>
          </a:prstGeom>
          <a:solidFill>
            <a:srgbClr val="00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45920" y="3447288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D9FF"/>
                </a:solidFill>
                <a:latin typeface="Arial"/>
              </a:rPr>
              <a:t>AlphaGo战胜李世石</a:t>
            </a:r>
            <a:r>
              <a:rPr sz="1300">
                <a:solidFill>
                  <a:srgbClr val="FFFFFF"/>
                </a:solidFill>
                <a:latin typeface="Arial"/>
              </a:rPr>
              <a:t> - AI在围棋领域取得里程碑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114800"/>
            <a:ext cx="822960" cy="45720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2062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2022+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63040" y="4114800"/>
            <a:ext cx="6949440" cy="5029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63040" y="4114800"/>
            <a:ext cx="50800" cy="502920"/>
          </a:xfrm>
          <a:prstGeom prst="rect">
            <a:avLst/>
          </a:prstGeom>
          <a:solidFill>
            <a:srgbClr val="00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45920" y="4224528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D9FF"/>
                </a:solidFill>
                <a:latin typeface="Arial"/>
              </a:rPr>
              <a:t>生成式AI时代</a:t>
            </a:r>
            <a:r>
              <a:rPr sz="1300">
                <a:solidFill>
                  <a:srgbClr val="FFFFFF"/>
                </a:solidFill>
                <a:latin typeface="Arial"/>
              </a:rPr>
              <a:t> - ChatGPT开启大语言模型新纪元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当前AI核心技术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14400"/>
            <a:ext cx="2651760" cy="16459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14400"/>
            <a:ext cx="2651760" cy="508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机器学习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BBBBBB"/>
                </a:solidFill>
                <a:latin typeface="Arial"/>
              </a:defRPr>
            </a:pPr>
            <a:r>
              <a:t>通过数据训练模型，实现模式识别和预测。包括监督学习、无监督学习和强化学习等方法。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914400"/>
            <a:ext cx="2651760" cy="16459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46120" y="914400"/>
            <a:ext cx="2651760" cy="50800"/>
          </a:xfrm>
          <a:prstGeom prst="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0972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深度学习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41732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BBBBBB"/>
                </a:solidFill>
                <a:latin typeface="Arial"/>
              </a:defRPr>
            </a:pPr>
            <a:r>
              <a:t>基于神经网络的多层学习架构，在图像识别、语音处理等领域表现卓越。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914400"/>
            <a:ext cx="2651760" cy="16459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914400"/>
            <a:ext cx="2651760" cy="50800"/>
          </a:xfrm>
          <a:prstGeom prst="rect">
            <a:avLst/>
          </a:prstGeom>
          <a:solidFill>
            <a:srgbClr val="00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0972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自然语言处理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41732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BBBBBB"/>
                </a:solidFill>
                <a:latin typeface="Arial"/>
              </a:defRPr>
            </a:pPr>
            <a:r>
              <a:t>使机器理解和生成人类语言。大语言模型(LLM)实现了突破性进展。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743200"/>
            <a:ext cx="2651760" cy="16459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743200"/>
            <a:ext cx="2651760" cy="508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926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计算机视觉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24612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BBBBBB"/>
                </a:solidFill>
                <a:latin typeface="Arial"/>
              </a:defRPr>
            </a:pPr>
            <a:r>
              <a:t>让机器'看懂'图像和视频，应用于人脸识别、自动驾驶、医学影像等领域。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6120" y="2743200"/>
            <a:ext cx="2651760" cy="16459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46120" y="2743200"/>
            <a:ext cx="2651760" cy="50800"/>
          </a:xfrm>
          <a:prstGeom prst="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2926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生成式AI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24612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BBBBBB"/>
                </a:solidFill>
                <a:latin typeface="Arial"/>
              </a:defRPr>
            </a:pPr>
            <a:r>
              <a:t>能够创造新内容的AI系统，包括文本生成、图像生成、代码生成等能力。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2743200"/>
            <a:ext cx="2651760" cy="16459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80760" y="2743200"/>
            <a:ext cx="2651760" cy="50800"/>
          </a:xfrm>
          <a:prstGeom prst="rect">
            <a:avLst/>
          </a:prstGeom>
          <a:solidFill>
            <a:srgbClr val="00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0" y="2926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多模态AI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324612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BBBBBB"/>
                </a:solidFill>
                <a:latin typeface="Arial"/>
              </a:defRPr>
            </a:pPr>
            <a:r>
              <a:t>整合文本、图像、音频等多种数据类型，实现更全面的智能理解与交互。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AI应用场景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4023360" cy="6858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14400"/>
            <a:ext cx="38100" cy="6858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2920" y="1051560"/>
            <a:ext cx="411480" cy="4114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0058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医疗健康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280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AAAAA"/>
                </a:solidFill>
                <a:latin typeface="Arial"/>
              </a:defRPr>
            </a:pPr>
            <a:r>
              <a:t>辅助诊断、药物研发、健康监测、医学影像分析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148840"/>
            <a:ext cx="4023360" cy="6858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148840"/>
            <a:ext cx="38100" cy="685800"/>
          </a:xfrm>
          <a:prstGeom prst="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02920" y="2286000"/>
            <a:ext cx="411480" cy="4114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402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金融服务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14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AAAAA"/>
                </a:solidFill>
                <a:latin typeface="Arial"/>
              </a:defRPr>
            </a:pPr>
            <a:r>
              <a:t>风险评估、智能投顾、反欺诈检测、自动化交易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83280"/>
            <a:ext cx="4023360" cy="6858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383280"/>
            <a:ext cx="38100" cy="685800"/>
          </a:xfrm>
          <a:prstGeom prst="rect">
            <a:avLst/>
          </a:prstGeom>
          <a:solidFill>
            <a:srgbClr val="00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2920" y="3520440"/>
            <a:ext cx="411480" cy="4114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474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智能制造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7490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AAAAA"/>
                </a:solidFill>
                <a:latin typeface="Arial"/>
              </a:defRPr>
            </a:pPr>
            <a:r>
              <a:t>质量检测、预测性维护、供应链优化、机器人自动化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914400"/>
            <a:ext cx="4023360" cy="6858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0" y="914400"/>
            <a:ext cx="38100" cy="685800"/>
          </a:xfrm>
          <a:prstGeom prst="rect">
            <a:avLst/>
          </a:prstGeom>
          <a:solidFill>
            <a:srgbClr val="00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09160" y="1051560"/>
            <a:ext cx="411480" cy="4114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10058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自动驾驶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1280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AAAAA"/>
                </a:solidFill>
                <a:latin typeface="Arial"/>
              </a:defRPr>
            </a:pPr>
            <a:r>
              <a:t>环境感知、路径规划、决策控制、车联网协同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2148840"/>
            <a:ext cx="4023360" cy="6858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0" y="2148840"/>
            <a:ext cx="38100" cy="6858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709160" y="2286000"/>
            <a:ext cx="411480" cy="4114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22402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教育培训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2514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AAAAA"/>
                </a:solidFill>
                <a:latin typeface="Arial"/>
              </a:defRPr>
            </a:pPr>
            <a:r>
              <a:t>个性化学习、智能辅导、自动评估、教育内容生成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0" y="3383280"/>
            <a:ext cx="4023360" cy="6858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0" y="3383280"/>
            <a:ext cx="38100" cy="685800"/>
          </a:xfrm>
          <a:prstGeom prst="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709160" y="3520440"/>
            <a:ext cx="411480" cy="4114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12080" y="3474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内容创作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7490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AAAAA"/>
                </a:solidFill>
                <a:latin typeface="Arial"/>
              </a:defRPr>
            </a:pPr>
            <a:r>
              <a:t>文案写作、图像生成、视频制作、音乐创作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未来展望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D9FF"/>
                </a:solidFill>
                <a:latin typeface="Arial"/>
              </a:defRPr>
            </a:pPr>
            <a:r>
              <a:t>发展趋势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3657600" cy="25400"/>
          </a:xfrm>
          <a:prstGeom prst="rect">
            <a:avLst/>
          </a:prstGeom>
          <a:solidFill>
            <a:srgbClr val="33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• 通用人工智能(AGI)持续探索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1051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• AI与量子计算深度融合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5798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• 边缘AI与物联网协同发展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0545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• AI安全与可解释性研究加强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5292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• 多模态大模型能力持续提升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9144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D9FF"/>
                </a:solidFill>
                <a:latin typeface="Arial"/>
              </a:defRPr>
            </a:pPr>
            <a:r>
              <a:t>面临挑战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1280160"/>
            <a:ext cx="3657600" cy="25400"/>
          </a:xfrm>
          <a:prstGeom prst="rect">
            <a:avLst/>
          </a:prstGeom>
          <a:solidFill>
            <a:srgbClr val="33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54880" y="1463040"/>
            <a:ext cx="3931920" cy="5029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0" y="1463040"/>
            <a:ext cx="38100" cy="502920"/>
          </a:xfrm>
          <a:prstGeom prst="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15727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D9FF"/>
                </a:solidFill>
                <a:latin typeface="Arial"/>
              </a:rPr>
              <a:t>伦理问题</a:t>
            </a:r>
            <a:r>
              <a:rPr sz="1100">
                <a:solidFill>
                  <a:srgbClr val="FFFFFF"/>
                </a:solidFill>
                <a:latin typeface="Arial"/>
              </a:rPr>
              <a:t> - 隐私保护、算法偏见、决策透明度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2103120"/>
            <a:ext cx="3931920" cy="5029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54880" y="2103120"/>
            <a:ext cx="38100" cy="502920"/>
          </a:xfrm>
          <a:prstGeom prst="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221284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D9FF"/>
                </a:solidFill>
                <a:latin typeface="Arial"/>
              </a:rPr>
              <a:t>监管合规</a:t>
            </a:r>
            <a:r>
              <a:rPr sz="1100">
                <a:solidFill>
                  <a:srgbClr val="FFFFFF"/>
                </a:solidFill>
                <a:latin typeface="Arial"/>
              </a:rPr>
              <a:t> - 全球AI治理框架持续完善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2743200"/>
            <a:ext cx="3931920" cy="5029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0" y="2743200"/>
            <a:ext cx="38100" cy="502920"/>
          </a:xfrm>
          <a:prstGeom prst="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60" y="285292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D9FF"/>
                </a:solidFill>
                <a:latin typeface="Arial"/>
              </a:rPr>
              <a:t>人才培养</a:t>
            </a:r>
            <a:r>
              <a:rPr sz="1100">
                <a:solidFill>
                  <a:srgbClr val="FFFFFF"/>
                </a:solidFill>
                <a:latin typeface="Arial"/>
              </a:rPr>
              <a:t> - AI人才缺口与教育体系适配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206240"/>
            <a:ext cx="7680960" cy="502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315968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AI将重塑各行各业，人机协作是未来趋势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