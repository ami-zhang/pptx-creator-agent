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0"/>
            <a:ext cx="1097280" cy="1097280"/>
          </a:xfrm>
          <a:prstGeom prst="ellipse">
            <a:avLst/>
          </a:prstGeom>
          <a:solidFill>
            <a:srgbClr val="764BA2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548640" cy="548640"/>
          </a:xfrm>
          <a:prstGeom prst="ellipse">
            <a:avLst/>
          </a:prstGeom>
          <a:solidFill>
            <a:srgbClr val="00D9F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人工智能发展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  <a:latin typeface="Arial"/>
              </a:defRPr>
            </a:pPr>
            <a:r>
              <a:t>从过去到未来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探索AI技术的演进历程与未来趋势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7315200" cy="254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AI发展历程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82296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1956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005840"/>
            <a:ext cx="694944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005840"/>
            <a:ext cx="50800" cy="5029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1155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9FF"/>
                </a:solidFill>
                <a:latin typeface="Arial"/>
              </a:rPr>
              <a:t>达特茅斯会议</a:t>
            </a:r>
            <a:r>
              <a:rPr sz="1300">
                <a:solidFill>
                  <a:srgbClr val="FFFFFF"/>
                </a:solidFill>
                <a:latin typeface="Arial"/>
              </a:rPr>
              <a:t> - 人工智能概念正式诞生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82296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1997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783080"/>
            <a:ext cx="694944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783080"/>
            <a:ext cx="50800" cy="5029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189280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9FF"/>
                </a:solidFill>
                <a:latin typeface="Arial"/>
              </a:rPr>
              <a:t>深蓝战胜卡斯帕罗夫</a:t>
            </a:r>
            <a:r>
              <a:rPr sz="1300">
                <a:solidFill>
                  <a:srgbClr val="FFFFFF"/>
                </a:solidFill>
                <a:latin typeface="Arial"/>
              </a:rPr>
              <a:t> - AI在国际象棋领域超越人类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82296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2012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560320"/>
            <a:ext cx="694944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2560320"/>
            <a:ext cx="50800" cy="5029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67004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9FF"/>
                </a:solidFill>
                <a:latin typeface="Arial"/>
              </a:rPr>
              <a:t>深度学习突破</a:t>
            </a:r>
            <a:r>
              <a:rPr sz="1300">
                <a:solidFill>
                  <a:srgbClr val="FFFFFF"/>
                </a:solidFill>
                <a:latin typeface="Arial"/>
              </a:rPr>
              <a:t> - AlexNet引发深度学习革命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82296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2016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337560"/>
            <a:ext cx="694944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63040" y="3337560"/>
            <a:ext cx="50800" cy="5029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344728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9FF"/>
                </a:solidFill>
                <a:latin typeface="Arial"/>
              </a:rPr>
              <a:t>AlphaGo战胜李世石</a:t>
            </a:r>
            <a:r>
              <a:rPr sz="1300">
                <a:solidFill>
                  <a:srgbClr val="FFFFFF"/>
                </a:solidFill>
                <a:latin typeface="Arial"/>
              </a:rPr>
              <a:t> - AI在围棋领域取得里程碑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82296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2022+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114800"/>
            <a:ext cx="694944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63040" y="4114800"/>
            <a:ext cx="50800" cy="5029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42245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9FF"/>
                </a:solidFill>
                <a:latin typeface="Arial"/>
              </a:rPr>
              <a:t>生成式AI时代</a:t>
            </a:r>
            <a:r>
              <a:rPr sz="1300">
                <a:solidFill>
                  <a:srgbClr val="FFFFFF"/>
                </a:solidFill>
                <a:latin typeface="Arial"/>
              </a:rPr>
              <a:t> - ChatGPT开启大语言模型新纪元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当前AI核心技术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2651760" cy="50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机器学习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Arial"/>
              </a:defRPr>
            </a:pPr>
            <a:r>
              <a:t>通过数据训练模型，实现模式识别和预测。包括监督学习、无监督学习和强化学习等方法。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914400"/>
            <a:ext cx="2651760" cy="50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深度学习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Arial"/>
              </a:defRPr>
            </a:pPr>
            <a:r>
              <a:t>基于神经网络的多层学习架构，在图像识别、语音处理等领域表现卓越。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914400"/>
            <a:ext cx="2651760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自然语言处理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Arial"/>
              </a:defRPr>
            </a:pPr>
            <a:r>
              <a:t>使机器理解和生成人类语言。大语言模型(LLM)实现了突破性进展。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743200"/>
            <a:ext cx="2651760" cy="50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计算机视觉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Arial"/>
              </a:defRPr>
            </a:pPr>
            <a:r>
              <a:t>让机器'看懂'图像和视频，应用于人脸识别、自动驾驶、医学影像等领域。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2743200"/>
            <a:ext cx="2651760" cy="50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生成式AI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Arial"/>
              </a:defRPr>
            </a:pPr>
            <a:r>
              <a:t>能够创造新内容的AI系统，包括文本生成、图像生成、代码生成等能力。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2743200"/>
            <a:ext cx="2651760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多模态AI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Arial"/>
              </a:defRPr>
            </a:pPr>
            <a:r>
              <a:t>整合文本、图像、音频等多种数据类型，实现更全面的智能理解与交互。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AI应用场景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4023360" cy="685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8100" cy="685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05156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05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医疗健康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辅助诊断、药物研发、健康监测、医学影像分析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4023360" cy="685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38100" cy="685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228600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金融服务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风险评估、智能投顾、反欺诈检测、自动化交易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4023360" cy="685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38100" cy="685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352044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智能制造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质量检测、预测性维护、供应链优化、机器人自动化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914400"/>
            <a:ext cx="4023360" cy="685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914400"/>
            <a:ext cx="38100" cy="685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09160" y="105156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005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自动驾驶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环境感知、路径规划、决策控制、车联网协同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148840"/>
            <a:ext cx="4023360" cy="685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2148840"/>
            <a:ext cx="38100" cy="685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9160" y="228600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教育培训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个性化学习、智能辅导、自动评估、教育内容生成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383280"/>
            <a:ext cx="4023360" cy="685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383280"/>
            <a:ext cx="38100" cy="685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09160" y="352044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内容创作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文案写作、图像生成、视频制作、音乐创作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9FF"/>
                </a:solidFill>
                <a:latin typeface="Arial"/>
              </a:defRPr>
            </a:pPr>
            <a:r>
              <a:t>发展趋势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254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通用人工智能(AGI)持续探索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AI与量子计算深度融合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边缘AI与物联网协同发展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054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AI安全与可解释性研究加强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多模态大模型能力持续提升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9FF"/>
                </a:solidFill>
                <a:latin typeface="Arial"/>
              </a:defRPr>
            </a:pPr>
            <a:r>
              <a:t>面临挑战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280160"/>
            <a:ext cx="3657600" cy="254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463040"/>
            <a:ext cx="38100" cy="502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572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9FF"/>
                </a:solidFill>
                <a:latin typeface="Arial"/>
              </a:rPr>
              <a:t>伦理问题</a:t>
            </a:r>
            <a:r>
              <a:rPr sz="1100">
                <a:solidFill>
                  <a:srgbClr val="FFFFFF"/>
                </a:solidFill>
                <a:latin typeface="Arial"/>
              </a:rPr>
              <a:t> - 隐私保护、算法偏见、决策透明度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103120"/>
            <a:ext cx="393192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103120"/>
            <a:ext cx="38100" cy="502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2128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9FF"/>
                </a:solidFill>
                <a:latin typeface="Arial"/>
              </a:rPr>
              <a:t>监管合规</a:t>
            </a:r>
            <a:r>
              <a:rPr sz="1100">
                <a:solidFill>
                  <a:srgbClr val="FFFFFF"/>
                </a:solidFill>
                <a:latin typeface="Arial"/>
              </a:rPr>
              <a:t> - 全球AI治理框架持续完善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743200"/>
            <a:ext cx="393192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2743200"/>
            <a:ext cx="38100" cy="502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852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9FF"/>
                </a:solidFill>
                <a:latin typeface="Arial"/>
              </a:rPr>
              <a:t>人才培养</a:t>
            </a:r>
            <a:r>
              <a:rPr sz="1100">
                <a:solidFill>
                  <a:srgbClr val="FFFFFF"/>
                </a:solidFill>
                <a:latin typeface="Arial"/>
              </a:rPr>
              <a:t> - AI人才缺口与教育体系适配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7680960" cy="502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1596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AI将重塑各行各业，人机协作是未来趋势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