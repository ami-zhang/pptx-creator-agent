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00000"/>
            <a:ext cx="12192000" cy="27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00000"/>
            <a:ext cx="12192000" cy="55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845000"/>
            <a:ext cx="12192000" cy="55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45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>
                <a:solidFill>
                  <a:srgbClr val="FFFFFF"/>
                </a:solidFill>
                <a:latin typeface="微软雅黑"/>
              </a:rPr>
              <a:t>pptx-creator-agent 改进成果汇报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250000"/>
            <a:ext cx="105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BDC3C7"/>
                </a:solidFill>
                <a:latin typeface="微软雅黑"/>
              </a:rPr>
              <a:t>规划先行  |  Helper 复用  |  分块生成  |  代码卫生校验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1A8A8A"/>
                </a:solidFill>
                <a:latin typeface="微软雅黑"/>
              </a:rPr>
              <a:t>2026-03-19   基于 4 次 PPTX 生成实战经验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000" y="6508000"/>
            <a:ext cx="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D6D7E"/>
                </a:solidFill>
                <a:latin typeface="微软雅黑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000"/>
            <a:ext cx="12192000" cy="32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3A5C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0000" y="1100000"/>
            <a:ext cx="520000" cy="45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00" y="1130000"/>
            <a:ext cx="400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C0392B"/>
                </a:solidFill>
                <a:latin typeface="微软雅黑"/>
              </a:rPr>
              <a:t>改进前现状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0000" y="1180000"/>
            <a:ext cx="65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D6D7E"/>
                </a:solidFill>
                <a:latin typeface="微软雅黑"/>
              </a:rPr>
              <a:t>4 次实战成功率 + 主要失败模式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400000" y="2100000"/>
            <a:ext cx="520000" cy="450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00" y="2130000"/>
            <a:ext cx="400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8A8A"/>
                </a:solidFill>
                <a:latin typeface="微软雅黑"/>
              </a:rPr>
              <a:t>改进方案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0000" y="2180000"/>
            <a:ext cx="65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D6D7E"/>
                </a:solidFill>
                <a:latin typeface="微软雅黑"/>
              </a:rPr>
              <a:t>3 条核心改进路径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0000" y="3100000"/>
            <a:ext cx="520000" cy="45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00" y="3130000"/>
            <a:ext cx="400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B3A5C"/>
                </a:solidFill>
                <a:latin typeface="微软雅黑"/>
              </a:rPr>
              <a:t>技术实现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0000" y="3180000"/>
            <a:ext cx="65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D6D7E"/>
                </a:solidFill>
                <a:latin typeface="微软雅黑"/>
              </a:rPr>
              <a:t>pptx_helpers + 分块策略 + 代码卫生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0000" y="4100000"/>
            <a:ext cx="520000" cy="4500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000" y="4130000"/>
            <a:ext cx="400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27AE60"/>
                </a:solidFill>
                <a:latin typeface="微软雅黑"/>
              </a:rPr>
              <a:t>改进成果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0000" y="4180000"/>
            <a:ext cx="65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D6D7E"/>
                </a:solidFill>
                <a:latin typeface="微软雅黑"/>
              </a:rPr>
              <a:t>前后对比数据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00" y="5100000"/>
            <a:ext cx="520000" cy="450000"/>
          </a:xfrm>
          <a:prstGeom prst="rect">
            <a:avLst/>
          </a:prstGeom>
          <a:solidFill>
            <a:srgbClr val="D48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000" y="5130000"/>
            <a:ext cx="40000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D4880F"/>
                </a:solidFill>
                <a:latin typeface="微软雅黑"/>
              </a:rPr>
              <a:t>结论与展望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0000" y="5180000"/>
            <a:ext cx="650000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D6D7E"/>
                </a:solidFill>
                <a:latin typeface="微软雅黑"/>
              </a:rPr>
              <a:t>关键结论 + 下一步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000" y="6508000"/>
            <a:ext cx="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D6D7E"/>
                </a:solidFill>
                <a:latin typeface="微软雅黑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000"/>
            <a:ext cx="12192000" cy="32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3A5C"/>
                </a:solidFill>
                <a:latin typeface="微软雅黑"/>
              </a:rPr>
              <a:t>改进前现状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58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D6D7E"/>
                </a:solidFill>
                <a:latin typeface="微软雅黑"/>
              </a:rPr>
              <a:t>pptx-creator 实战成功率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0000" y="870000"/>
            <a:ext cx="11300000" cy="45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0000" y="930000"/>
            <a:ext cx="1200000" cy="34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第一幕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0000" y="945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0392B"/>
                </a:solidFill>
                <a:latin typeface="微软雅黑"/>
              </a:rPr>
              <a:t>改进前现状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50000" y="1500000"/>
          <a:ext cx="8950000" cy="3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000"/>
                <a:gridCol w="2800000"/>
                <a:gridCol w="700000"/>
                <a:gridCol w="3800000"/>
                <a:gridCol w="1200000"/>
              </a:tblGrid>
              <a:tr h="640000"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#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文件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页数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生成方式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结果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640000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项目工具链综述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15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pptx-creator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7AE60"/>
                          </a:solidFill>
                          <a:latin typeface="微软雅黑"/>
                        </a:rPr>
                        <a:t>✅ 成功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</a:tr>
              <a:tr h="640000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测试场景分析报告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pptx-creator → 手写脚本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微软雅黑"/>
                        </a:rPr>
                        <a:t>❌ 失败</a:t>
                      </a:r>
                    </a:p>
                  </a:txBody>
                  <a:tcPr anchor="ctr"/>
                </a:tc>
              </a:tr>
              <a:tr h="640000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市场调研报告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32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pptx-creator → 手写脚本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微软雅黑"/>
                        </a:rPr>
                        <a:t>❌ 失败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</a:tr>
              <a:tr h="640000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问题排查汇报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28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直接手写脚本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C0392B"/>
                          </a:solidFill>
                          <a:latin typeface="微软雅黑"/>
                        </a:rPr>
                        <a:t>❌ 跳过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9500000" y="1500000"/>
            <a:ext cx="2400000" cy="3200000"/>
          </a:xfrm>
          <a:prstGeom prst="rect">
            <a:avLst/>
          </a:prstGeom>
          <a:solidFill>
            <a:srgbClr val="F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0000" y="1650000"/>
            <a:ext cx="21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C0392B"/>
                </a:solidFill>
                <a:latin typeface="微软雅黑"/>
              </a:rPr>
              <a:t>成功率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0000" y="2200000"/>
            <a:ext cx="21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5200" b="1">
                <a:solidFill>
                  <a:srgbClr val="C0392B"/>
                </a:solidFill>
                <a:latin typeface="微软雅黑"/>
              </a:rPr>
              <a:t>1/4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0000" y="3100000"/>
            <a:ext cx="21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C0392B"/>
                </a:solidFill>
                <a:latin typeface="微软雅黑"/>
              </a:rPr>
              <a:t>25%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000" y="4900000"/>
            <a:ext cx="11500000" cy="1400000"/>
          </a:xfrm>
          <a:prstGeom prst="rect">
            <a:avLst/>
          </a:prstGeom>
          <a:solidFill>
            <a:srgbClr val="F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000" y="4960000"/>
            <a:ext cx="1134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0392B"/>
                </a:solidFill>
                <a:latin typeface="微软雅黑"/>
              </a:rPr>
              <a:t>根本原因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000" y="5230000"/>
            <a:ext cx="1134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每次尝试：读取源文档 → 理解内容 → 规划幻灯片 → 生成完整脚本（800~1300 行）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当源文档超过 200~300 行时，prompt 超出上下文窗口，生成被截断或直接失败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000" y="6508000"/>
            <a:ext cx="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D6D7E"/>
                </a:solidFill>
                <a:latin typeface="微软雅黑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000"/>
            <a:ext cx="12192000" cy="32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3A5C"/>
                </a:solidFill>
                <a:latin typeface="微软雅黑"/>
              </a:rPr>
              <a:t>核心问题分析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58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D6D7E"/>
                </a:solidFill>
                <a:latin typeface="微软雅黑"/>
              </a:rPr>
              <a:t>5 大失败模式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0000" y="870000"/>
            <a:ext cx="11300000" cy="45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0000" y="930000"/>
            <a:ext cx="1200000" cy="34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第一幕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0000" y="945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0392B"/>
                </a:solidFill>
                <a:latin typeface="微软雅黑"/>
              </a:rPr>
              <a:t>改进前现状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000" y="1450000"/>
            <a:ext cx="520000" cy="39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0000" y="1465000"/>
            <a:ext cx="3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0392B"/>
                </a:solidFill>
                <a:latin typeface="微软雅黑"/>
              </a:rPr>
              <a:t>响应长度硬限制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0000" y="1485000"/>
            <a:ext cx="74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D3436"/>
                </a:solidFill>
                <a:latin typeface="微软雅黑"/>
              </a:rPr>
              <a:t>脚本 800~1300 行，超出单次输出能力，是 3/4 次失败的直接原因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000" y="2400000"/>
            <a:ext cx="520000" cy="390000"/>
          </a:xfrm>
          <a:prstGeom prst="rect">
            <a:avLst/>
          </a:prstGeom>
          <a:solidFill>
            <a:srgbClr val="D48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0" y="2415000"/>
            <a:ext cx="3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4880F"/>
                </a:solidFill>
                <a:latin typeface="微软雅黑"/>
              </a:rPr>
              <a:t>无法处理大量源材料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0000" y="2435000"/>
            <a:ext cx="74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D3436"/>
                </a:solidFill>
                <a:latin typeface="微软雅黑"/>
              </a:rPr>
              <a:t>1872 行源文档无预处理机制，prompt 溢出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0000" y="3350000"/>
            <a:ext cx="520000" cy="390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P3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0" y="3365000"/>
            <a:ext cx="3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67E22"/>
                </a:solidFill>
                <a:latin typeface="微软雅黑"/>
              </a:rPr>
              <a:t>设计系统无复用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0000" y="3385000"/>
            <a:ext cx="74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D3436"/>
                </a:solidFill>
                <a:latin typeface="微软雅黑"/>
              </a:rPr>
              <a:t>每次重定义 150 行 helper + 配色方案，4 个脚本 = 600 行重复代码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0000" y="4300000"/>
            <a:ext cx="520000" cy="390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P4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0000" y="4315000"/>
            <a:ext cx="3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8A8A"/>
                </a:solidFill>
                <a:latin typeface="微软雅黑"/>
              </a:rPr>
              <a:t>Unicode 引号 SyntaxError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0000" y="4335000"/>
            <a:ext cx="74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D3436"/>
                </a:solidFill>
                <a:latin typeface="微软雅黑"/>
              </a:rPr>
              <a:t>生成代码混入弯引号，每次需要手动修复才能运行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0000" y="5250000"/>
            <a:ext cx="520000" cy="39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P5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0000" y="5265000"/>
            <a:ext cx="3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B3A5C"/>
                </a:solidFill>
                <a:latin typeface="微软雅黑"/>
              </a:rPr>
              <a:t>无分块/增量生成能力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0000" y="5285000"/>
            <a:ext cx="74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D3436"/>
                </a:solidFill>
                <a:latin typeface="微软雅黑"/>
              </a:rPr>
              <a:t>失败后只能全部重来，无断点续写机制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000" y="6508000"/>
            <a:ext cx="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D6D7E"/>
                </a:solidFill>
                <a:latin typeface="微软雅黑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000"/>
            <a:ext cx="12192000" cy="32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3A5C"/>
                </a:solidFill>
                <a:latin typeface="微软雅黑"/>
              </a:rPr>
              <a:t>致命缺陷详解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58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D6D7E"/>
                </a:solidFill>
                <a:latin typeface="微软雅黑"/>
              </a:rPr>
              <a:t>响应长度硬限制 — 根因与数据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0000" y="870000"/>
            <a:ext cx="11300000" cy="45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0000" y="930000"/>
            <a:ext cx="1200000" cy="34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第一幕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0000" y="945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0392B"/>
                </a:solidFill>
                <a:latin typeface="微软雅黑"/>
              </a:rPr>
              <a:t>改进前现状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00" y="1500000"/>
            <a:ext cx="5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Prompt 组成（典型 22 页 deck）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000" y="1900000"/>
            <a:ext cx="52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D3436"/>
                </a:solidFill>
                <a:latin typeface="Courier New"/>
              </a:rPr>
              <a:t>agent 系统指令         ~500 tokens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D3436"/>
                </a:solidFill>
                <a:latin typeface="Courier New"/>
              </a:rPr>
              <a:t>用户源文档（MD 文件）   ~3000–8000 tokens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D3436"/>
                </a:solidFill>
                <a:latin typeface="Courier New"/>
              </a:rPr>
              <a:t>规划 + 代码输出         ~3000–6000 tokens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D3436"/>
                </a:solidFill>
                <a:latin typeface="Courier New"/>
              </a:rPr>
              <a:t>─────────────────────────────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2D3436"/>
                </a:solidFill>
                <a:latin typeface="Courier New"/>
              </a:rPr>
              <a:t>合计超出上下文窗口上限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0000" y="1500000"/>
            <a:ext cx="59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典型错误输出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50000" y="1900000"/>
            <a:ext cx="6050000" cy="220000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10000" y="1940000"/>
            <a:ext cx="5930000" cy="21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E0E0E0"/>
                </a:solidFill>
                <a:latin typeface="Courier New"/>
              </a:rPr>
              <a:t># 失败模式 A：直接报错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E0E0E0"/>
                </a:solidFill>
                <a:latin typeface="Courier New"/>
              </a:rPr>
              <a:t>Error: prompt too long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E0E0E0"/>
                </a:solidFill>
                <a:latin typeface="Courier New"/>
              </a:rPr>
              <a:t/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E0E0E0"/>
                </a:solidFill>
                <a:latin typeface="Courier New"/>
              </a:rPr>
              <a:t># 失败模式 B：生成被截断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E0E0E0"/>
                </a:solidFill>
                <a:latin typeface="Courier New"/>
              </a:rPr>
              <a:t>def build_slide_22(prs, C):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E0E0E0"/>
                </a:solidFill>
                <a:latin typeface="Courier New"/>
              </a:rPr>
              <a:t>    s = prs.slides.add_slide(...)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100">
                <a:solidFill>
                  <a:srgbClr val="E0E0E0"/>
                </a:solidFill>
                <a:latin typeface="Courier New"/>
              </a:rPr>
              <a:t>    # [output truncated at token limit]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000" y="4400000"/>
            <a:ext cx="11500000" cy="190000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000" y="4460000"/>
            <a:ext cx="1134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解决思路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000" y="4730000"/>
            <a:ext cx="11340000" cy="1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① 源文档 &gt; 300 行时，先提取摘要（节标题 + 要点 + 关键数据块）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② 生成脚本骨架（imports + create_prs + builders 列表 + main），暂不填充函数体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③ 按批次生成 slide builder 函数（每批 ≤8 页），追加到同一文件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④ 复用 pptx_helpers.py，消除每个脚本里 150 行重复 helper 定义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000" y="6508000"/>
            <a:ext cx="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D6D7E"/>
                </a:solidFill>
                <a:latin typeface="微软雅黑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000"/>
            <a:ext cx="12192000" cy="32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3A5C"/>
                </a:solidFill>
                <a:latin typeface="微软雅黑"/>
              </a:rPr>
              <a:t>改进方案总览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58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D6D7E"/>
                </a:solidFill>
                <a:latin typeface="微软雅黑"/>
              </a:rPr>
              <a:t>3 条核心改进路径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0000" y="870000"/>
            <a:ext cx="11300000" cy="45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0000" y="930000"/>
            <a:ext cx="1200000" cy="340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第二幕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0000" y="945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A8A8A"/>
                </a:solidFill>
                <a:latin typeface="微软雅黑"/>
              </a:rPr>
              <a:t>改进方案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000" y="1500000"/>
            <a:ext cx="3600000" cy="4600000"/>
          </a:xfrm>
          <a:prstGeom prst="rect">
            <a:avLst/>
          </a:prstGeom>
          <a:solidFill>
            <a:srgbClr val="D6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000" y="1560000"/>
            <a:ext cx="344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① Helper 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000" y="1830000"/>
            <a:ext cx="3440000" cy="4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创建 pptx_helpers.py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12 个元素级函数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3 套内置配色方案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from pptx_helpers import *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脚本减少 40% 行数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彻底消除重复代码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1500000"/>
            <a:ext cx="3600000" cy="4600000"/>
          </a:xfrm>
          <a:prstGeom prst="rect">
            <a:avLst/>
          </a:prstGeom>
          <a:solidFill>
            <a:srgbClr val="E8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80000" y="1560000"/>
            <a:ext cx="344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7AE60"/>
                </a:solidFill>
                <a:latin typeface="微软雅黑"/>
              </a:rPr>
              <a:t>② 分块生成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0000" y="1830000"/>
            <a:ext cx="3440000" cy="4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大纲规划先行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脚本骨架与 builders 分离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每批 ≤8 页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追加到同一文件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批次完成后语法校验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失败从断点恢复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50000" y="1500000"/>
            <a:ext cx="3700000" cy="4600000"/>
          </a:xfrm>
          <a:prstGeom prst="rect">
            <a:avLst/>
          </a:prstGeom>
          <a:solidFill>
            <a:srgbClr val="FEF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0000" y="1560000"/>
            <a:ext cx="354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4880F"/>
                </a:solidFill>
                <a:latin typeface="微软雅黑"/>
              </a:rPr>
              <a:t>③ 代码卫生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0000" y="1830000"/>
            <a:ext cx="3540000" cy="4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ast.parse 语法验证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Unicode 弯引号检测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sanitize_script() 自动修复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执行前强制校验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优先使用 ASCII 引号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消除 SyntaxError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000" y="6508000"/>
            <a:ext cx="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D6D7E"/>
                </a:solidFill>
                <a:latin typeface="微软雅黑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000"/>
            <a:ext cx="12192000" cy="32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3A5C"/>
                </a:solidFill>
                <a:latin typeface="微软雅黑"/>
              </a:rPr>
              <a:t>pptx_helpers.py 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58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D6D7E"/>
                </a:solidFill>
                <a:latin typeface="微软雅黑"/>
              </a:rPr>
              <a:t>12 个元素级 Helper 函数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0000" y="870000"/>
            <a:ext cx="11300000" cy="4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0000" y="930000"/>
            <a:ext cx="1200000" cy="34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第三幕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0000" y="945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技术实现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50000" y="1500000"/>
          <a:ext cx="10000000" cy="5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/>
                <a:gridCol w="3800000"/>
                <a:gridCol w="1500000"/>
                <a:gridCol w="2500000"/>
              </a:tblGrid>
              <a:tr h="384615"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函数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用途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粒度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使用频次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384615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add_bg()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纯色矩形背景块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元素级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极高（每页 3-5 次）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</a:tr>
              <a:tr h="384615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tb()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单行/多行文本框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元素级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极高（每页 2-4 次）</a:t>
                      </a:r>
                    </a:p>
                  </a:txBody>
                  <a:tcPr anchor="ctr"/>
                </a:tc>
              </a:tr>
              <a:tr h="384615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ml()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多行文本 + 项目符号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元素级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</a:tr>
              <a:tr h="384615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rl()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富文本列表（每行独立样式）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元素级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中</a:t>
                      </a:r>
                    </a:p>
                  </a:txBody>
                  <a:tcPr anchor="ctr"/>
                </a:tc>
              </a:tr>
              <a:tr h="384615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ct() + ft()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创建表格 + 填充数据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元素级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</a:tr>
              <a:tr h="384615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sc()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设置单元格内容和样式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单元格级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/>
                </a:tc>
              </a:tr>
              <a:tr h="384615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code()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深色背景代码块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元素级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中（技术文档）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</a:tr>
              <a:tr h="384615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hbox()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带标题的高亮信息框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元素级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高</a:t>
                      </a:r>
                    </a:p>
                  </a:txBody>
                  <a:tcPr anchor="ctr"/>
                </a:tc>
              </a:tr>
              <a:tr h="384615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badge() / act_badge()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序号徽章 / 章节标记条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元素级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中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</a:tr>
              <a:tr h="384615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bar()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顶部装饰条 + 标题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元素级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极高（几乎每页）</a:t>
                      </a:r>
                    </a:p>
                  </a:txBody>
                  <a:tcPr anchor="ctr"/>
                </a:tc>
              </a:tr>
              <a:tr h="384615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sn()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右下角页码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元素级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每页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</a:tr>
              <a:tr h="384620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sanitize_script()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Unicode 修复 + 语法校验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工具函数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执行前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292000" y="6508000"/>
            <a:ext cx="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D6D7E"/>
                </a:solidFill>
                <a:latin typeface="微软雅黑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000"/>
            <a:ext cx="12192000" cy="32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3A5C"/>
                </a:solidFill>
                <a:latin typeface="微软雅黑"/>
              </a:rPr>
              <a:t>分块生成策略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58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D6D7E"/>
                </a:solidFill>
                <a:latin typeface="微软雅黑"/>
              </a:rPr>
              <a:t>5 步标准生成流程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0000" y="870000"/>
            <a:ext cx="11300000" cy="4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0000" y="930000"/>
            <a:ext cx="1200000" cy="34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第三幕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0000" y="945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技术实现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000" y="1500000"/>
            <a:ext cx="2150000" cy="3800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000" y="1620000"/>
            <a:ext cx="19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Courier New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000" y="2000000"/>
            <a:ext cx="195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摘要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000" y="2550000"/>
            <a:ext cx="202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微软雅黑"/>
              </a:rPr>
              <a:t>源文档 &gt; 300 行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微软雅黑"/>
              </a:rPr>
              <a:t>先提取摘要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微软雅黑"/>
              </a:rPr>
              <a:t>保留标题+要点+数据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0000" y="1500000"/>
            <a:ext cx="2150000" cy="38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90000" y="1620000"/>
            <a:ext cx="19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Courier New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0000" y="2000000"/>
            <a:ext cx="195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规划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000" y="2550000"/>
            <a:ext cx="202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微软雅黑"/>
              </a:rPr>
              <a:t>输出 slide plan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微软雅黑"/>
              </a:rPr>
              <a:t>页码/标题/布局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微软雅黑"/>
              </a:rPr>
              <a:t>/关键内容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30000" y="1500000"/>
            <a:ext cx="2150000" cy="3800000"/>
          </a:xfrm>
          <a:prstGeom prst="rect">
            <a:avLst/>
          </a:prstGeom>
          <a:solidFill>
            <a:srgbClr val="D48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0000" y="1620000"/>
            <a:ext cx="19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Courier New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0000" y="2000000"/>
            <a:ext cx="195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骨架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0000" y="2550000"/>
            <a:ext cx="202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微软雅黑"/>
              </a:rPr>
              <a:t>imports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微软雅黑"/>
              </a:rPr>
              <a:t>create_prs()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微软雅黑"/>
              </a:rPr>
              <a:t>builders 列表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微软雅黑"/>
              </a:rPr>
              <a:t>main()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70000" y="1500000"/>
            <a:ext cx="2150000" cy="38000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000" y="1620000"/>
            <a:ext cx="19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Courier New"/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000" y="2000000"/>
            <a:ext cx="195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批次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0000" y="2550000"/>
            <a:ext cx="202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微软雅黑"/>
              </a:rPr>
              <a:t>每批生成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微软雅黑"/>
              </a:rPr>
              <a:t>≤8 个 builders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微软雅黑"/>
              </a:rPr>
              <a:t>追加到同一脚本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10000" y="1500000"/>
            <a:ext cx="2150000" cy="380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10000" y="1620000"/>
            <a:ext cx="195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Courier New"/>
              </a:rPr>
              <a:t>Step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0000" y="2000000"/>
            <a:ext cx="1950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校验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90000" y="2550000"/>
            <a:ext cx="202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微软雅黑"/>
              </a:rPr>
              <a:t>ast.parse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微软雅黑"/>
              </a:rPr>
              <a:t>sanitize_script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微软雅黑"/>
              </a:rPr>
              <a:t>统一执行验证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000" y="5500000"/>
            <a:ext cx="11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5D6D7E"/>
                </a:solidFill>
                <a:latin typeface="微软雅黑"/>
              </a:rPr>
              <a:t>每批之间独立追加 ·  失败时从最后完成的 slide builder 断点恢复 ·  不需要整份重来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92000" y="6508000"/>
            <a:ext cx="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D6D7E"/>
                </a:solidFill>
                <a:latin typeface="微软雅黑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000"/>
            <a:ext cx="12192000" cy="32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3A5C"/>
                </a:solidFill>
                <a:latin typeface="微软雅黑"/>
              </a:rPr>
              <a:t>代码卫生检查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58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D6D7E"/>
                </a:solidFill>
                <a:latin typeface="微软雅黑"/>
              </a:rPr>
              <a:t>sanitize_script() 实现原理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0000" y="870000"/>
            <a:ext cx="11300000" cy="4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0000" y="930000"/>
            <a:ext cx="1200000" cy="34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第三幕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0000" y="945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技术实现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00" y="1500000"/>
            <a:ext cx="1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B3A5C"/>
                </a:solidFill>
                <a:latin typeface="微软雅黑"/>
              </a:rPr>
              <a:t>sanitize_script(path) — 修复 Unicode 弯引号，然后用 ast.parse 验证语法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000" y="1950000"/>
            <a:ext cx="11500000" cy="440000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000" y="1990000"/>
            <a:ext cx="1138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def sanitize_script(path):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"""修复 Unicode 弯引号，然后做语法校验。"""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import ast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with open(path, encoding="utf-8") as f: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    content = f.read()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/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# 替换 4 种 Unicode 弯引号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QUOTES = {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    chr(0x201c): chr(34),   # U+201C 左双引号  -&gt;  "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    chr(0x201d): chr(34),   # U+201D 右双引号  -&gt;  "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    chr(0x2018): chr(39),   # U+2018 左单引号  -&gt;  '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    chr(0x2019): chr(39),   # U+2019 右单引号  -&gt;  '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}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for old, new in QUOTES.items():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    content = content.replace(old, new)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/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try: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    ast.parse(content)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    return True    # 语法正常，可以执行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except SyntaxError as e: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    print(f"SyntaxError: {e}")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    return 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000" y="6508000"/>
            <a:ext cx="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D6D7E"/>
                </a:solidFill>
                <a:latin typeface="微软雅黑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000"/>
            <a:ext cx="12192000" cy="32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3A5C"/>
                </a:solidFill>
                <a:latin typeface="微软雅黑"/>
              </a:rPr>
              <a:t>核心 API 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58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D6D7E"/>
                </a:solidFill>
                <a:latin typeface="微软雅黑"/>
              </a:rPr>
              <a:t>pptx_helpers — 常用参数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0000" y="870000"/>
            <a:ext cx="11300000" cy="4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0000" y="930000"/>
            <a:ext cx="1200000" cy="34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第三幕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0000" y="945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技术实现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50000" y="1500000"/>
          <a:ext cx="10600000" cy="5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3800000"/>
                <a:gridCol w="5000000"/>
              </a:tblGrid>
              <a:tr h="472727"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函数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关键参数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</a:rPr>
                        <a:t>调用示例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472727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2D3436"/>
                          </a:solidFill>
                          <a:latin typeface="微软雅黑"/>
                        </a:rPr>
                        <a:t>create_prs(scheme)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2D3436"/>
                          </a:solidFill>
                          <a:latin typeface="微软雅黑"/>
                        </a:rPr>
                        <a:t>navy_teal | tech_dark | corporate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2D3436"/>
                          </a:solidFill>
                          <a:latin typeface="微软雅黑"/>
                        </a:rPr>
                        <a:t>prs, C = create_prs('corporate')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</a:tr>
              <a:tr h="472727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2D3436"/>
                          </a:solidFill>
                          <a:latin typeface="微软雅黑"/>
                        </a:rPr>
                        <a:t>add_bg(s,l,t,w,h,c)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2D3436"/>
                          </a:solidFill>
                          <a:latin typeface="微软雅黑"/>
                        </a:rPr>
                        <a:t>c: RGBColor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2D3436"/>
                          </a:solidFill>
                          <a:latin typeface="微软雅黑"/>
                        </a:rPr>
                        <a:t>add_bg(s, 0, 0, SLIDE_W, SLIDE_H, C['navy'])</a:t>
                      </a:r>
                    </a:p>
                  </a:txBody>
                  <a:tcPr anchor="ctr"/>
                </a:tc>
              </a:tr>
              <a:tr h="472727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2D3436"/>
                          </a:solidFill>
                          <a:latin typeface="微软雅黑"/>
                        </a:rPr>
                        <a:t>tb(s,l,t,w,h,txt)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2D3436"/>
                          </a:solidFill>
                          <a:latin typeface="微软雅黑"/>
                        </a:rPr>
                        <a:t>sz, b, c, al, fn, ls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2D3436"/>
                          </a:solidFill>
                          <a:latin typeface="微软雅黑"/>
                        </a:rPr>
                        <a:t>tb(s, l, t, w, h, '标题', sz=18, b=True, c=C['navy'], C=C)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</a:tr>
              <a:tr h="472727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2D3436"/>
                          </a:solidFill>
                          <a:latin typeface="微软雅黑"/>
                        </a:rPr>
                        <a:t>ml(s,l,t,w,h,lines)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2D3436"/>
                          </a:solidFill>
                          <a:latin typeface="微软雅黑"/>
                        </a:rPr>
                        <a:t>bullet, sz, ls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2D3436"/>
                          </a:solidFill>
                          <a:latin typeface="微软雅黑"/>
                        </a:rPr>
                        <a:t>ml(s, l, t, w, h, ['行1','行2'], bullet=True, C=C)</a:t>
                      </a:r>
                    </a:p>
                  </a:txBody>
                  <a:tcPr anchor="ctr"/>
                </a:tc>
              </a:tr>
              <a:tr h="472727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2D3436"/>
                          </a:solidFill>
                          <a:latin typeface="微软雅黑"/>
                        </a:rPr>
                        <a:t>ct(s,l,t,w,h,r,c,cw)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2D3436"/>
                          </a:solidFill>
                          <a:latin typeface="微软雅黑"/>
                        </a:rPr>
                        <a:t>cw: 列宽列表（EMU）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2D3436"/>
                          </a:solidFill>
                          <a:latin typeface="微软雅黑"/>
                        </a:rPr>
                        <a:t>tbl = ct(s, l, t, w, h, 5, 3)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</a:tr>
              <a:tr h="472727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2D3436"/>
                          </a:solidFill>
                          <a:latin typeface="微软雅黑"/>
                        </a:rPr>
                        <a:t>ft(tbl, hdr, data)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2D3436"/>
                          </a:solidFill>
                          <a:latin typeface="微软雅黑"/>
                        </a:rPr>
                        <a:t>fs, hfs, hc, hfc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2D3436"/>
                          </a:solidFill>
                          <a:latin typeface="微软雅黑"/>
                        </a:rPr>
                        <a:t>ft(tbl, ['列1','列2'], [['A','B']], C=C)</a:t>
                      </a:r>
                    </a:p>
                  </a:txBody>
                  <a:tcPr anchor="ctr"/>
                </a:tc>
              </a:tr>
              <a:tr h="472727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2D3436"/>
                          </a:solidFill>
                          <a:latin typeface="微软雅黑"/>
                        </a:rPr>
                        <a:t>code(s,l,t,w,h,lines)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2D3436"/>
                          </a:solidFill>
                          <a:latin typeface="微软雅黑"/>
                        </a:rPr>
                        <a:t>sz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2D3436"/>
                          </a:solidFill>
                          <a:latin typeface="微软雅黑"/>
                        </a:rPr>
                        <a:t>code(s, l, t, w, h, ['import x', 'x()'], C=C)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</a:tr>
              <a:tr h="472727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2D3436"/>
                          </a:solidFill>
                          <a:latin typeface="微软雅黑"/>
                        </a:rPr>
                        <a:t>hbox(s,l,t,w,h,title,lines)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2D3436"/>
                          </a:solidFill>
                          <a:latin typeface="微软雅黑"/>
                        </a:rPr>
                        <a:t>bg, tc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2D3436"/>
                          </a:solidFill>
                          <a:latin typeface="微软雅黑"/>
                        </a:rPr>
                        <a:t>hbox(s, l, t, w, h, '说明', ['要点'], bg=C['light_blue'], C=C)</a:t>
                      </a:r>
                    </a:p>
                  </a:txBody>
                  <a:tcPr anchor="ctr"/>
                </a:tc>
              </a:tr>
              <a:tr h="472727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2D3436"/>
                          </a:solidFill>
                          <a:latin typeface="微软雅黑"/>
                        </a:rPr>
                        <a:t>bar(s, title, sub)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2D3436"/>
                          </a:solidFill>
                          <a:latin typeface="微软雅黑"/>
                        </a:rPr>
                        <a:t>C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2D3436"/>
                          </a:solidFill>
                          <a:latin typeface="微软雅黑"/>
                        </a:rPr>
                        <a:t>bar(s, '标题', sub='副标题', C=C)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</a:tr>
              <a:tr h="472730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2D3436"/>
                          </a:solidFill>
                          <a:latin typeface="微软雅黑"/>
                        </a:rPr>
                        <a:t>sn(s, n, total)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2D3436"/>
                          </a:solidFill>
                          <a:latin typeface="微软雅黑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900" b="0">
                          <a:solidFill>
                            <a:srgbClr val="2D3436"/>
                          </a:solidFill>
                          <a:latin typeface="微软雅黑"/>
                        </a:rPr>
                        <a:t>sn(s, 1, 20, C=C)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292000" y="6508000"/>
            <a:ext cx="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D6D7E"/>
                </a:solidFill>
                <a:latin typeface="微软雅黑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000"/>
            <a:ext cx="12192000" cy="32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3A5C"/>
                </a:solidFill>
                <a:latin typeface="微软雅黑"/>
              </a:rPr>
              <a:t>配色方案对比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58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D6D7E"/>
                </a:solidFill>
                <a:latin typeface="微软雅黑"/>
              </a:rPr>
              <a:t>3 套内置配色方案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0000" y="870000"/>
            <a:ext cx="11300000" cy="4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0000" y="930000"/>
            <a:ext cx="1200000" cy="34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第三幕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0000" y="945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技术实现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50000" y="1500000"/>
          <a:ext cx="9300000" cy="2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000"/>
                <a:gridCol w="2200000"/>
                <a:gridCol w="1200000"/>
                <a:gridCol w="2000000"/>
                <a:gridCol w="2700000"/>
              </a:tblGrid>
              <a:tr h="550000"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方案键名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调用方式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风格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主色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适用场景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550000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navy_teal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create_prs('navy_teal')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深色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#1B3A5C + #1A8A8A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技术汇报、产品分析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</a:tr>
              <a:tr h="550000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tech_dark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create_prs('tech_dark')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科技深色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#0F0F23 + #00D9FF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AI/科技演示</a:t>
                      </a:r>
                    </a:p>
                  </a:txBody>
                  <a:tcPr anchor="ctr"/>
                </a:tc>
              </a:tr>
              <a:tr h="550000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corporate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create_prs('corporate')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企业浅色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#2E5C9A + 白色背景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2D3436"/>
                          </a:solidFill>
                          <a:latin typeface="微软雅黑"/>
                        </a:rPr>
                        <a:t>企业正式汇报（推荐）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50000" y="4000000"/>
            <a:ext cx="1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B3A5C"/>
                </a:solidFill>
                <a:latin typeface="微软雅黑"/>
              </a:rPr>
              <a:t>每套方案包含 21 个语义化颜色键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" y="4450000"/>
            <a:ext cx="56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基础色: navy, navy_dark, teal, white, black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语义色: amber, red, green, orange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灰度: gray_light, gray_mid, gray_text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0000" y="4450000"/>
            <a:ext cx="56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行色: row_alt, light_blue, light_red, light_green, light_amber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代码色: code_bg, code_text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字体: font_cn (微软雅黑), font_code (Courier New)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000" y="6508000"/>
            <a:ext cx="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D6D7E"/>
                </a:solidFill>
                <a:latin typeface="微软雅黑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000"/>
            <a:ext cx="12192000" cy="32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3A5C"/>
                </a:solidFill>
                <a:latin typeface="微软雅黑"/>
              </a:rPr>
              <a:t>Builder 模式脚本骨架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58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D6D7E"/>
                </a:solidFill>
                <a:latin typeface="微软雅黑"/>
              </a:rPr>
              <a:t>推荐的脚本结构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0000" y="870000"/>
            <a:ext cx="11300000" cy="4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0000" y="930000"/>
            <a:ext cx="1200000" cy="34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第三幕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0000" y="945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B3A5C"/>
                </a:solidFill>
                <a:latin typeface="微软雅黑"/>
              </a:rPr>
              <a:t>技术实现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000" y="1500000"/>
            <a:ext cx="11500000" cy="5200000"/>
          </a:xfrm>
          <a:prstGeom prst="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0000" y="1540000"/>
            <a:ext cx="11380000" cy="51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from scripts.pptx_helpers import *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/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SLIDE_PLAN = [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(1, "封面",   "全屏标题", "主题 + 副标题"),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(2, "目录",   "目录",     "章节概览"),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# ... 更多页面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]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/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prs, C = create_prs("corporate")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/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/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def build_slide_01_cover(prs, C):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s = prs.slides.add_slide(prs.slide_layouts[6])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bar(s, "标题", sub="副标题", C=C)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sn(s, 1, len(SLIDE_PLAN), C=C)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/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/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def main():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builder_batches = [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    ("Batch 1", [build_slide_01_cover, ...]),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    ("Batch 2", [build_slide_09_xxxx,  ...]),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]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for batch_name, builders in builder_batches: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    for b in builders: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        b(prs, C)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sanitize_script(__file__)    # 代码卫生校验</a:t>
            </a:r>
          </a:p>
          <a:p>
            <a:pPr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>
                <a:solidFill>
                  <a:srgbClr val="E0E0E0"/>
                </a:solidFill>
                <a:latin typeface="Courier New"/>
              </a:rPr>
              <a:t>    save_pptx(prs, "output.pptx")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000" y="6508000"/>
            <a:ext cx="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D6D7E"/>
                </a:solidFill>
                <a:latin typeface="微软雅黑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000"/>
            <a:ext cx="12192000" cy="32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3A5C"/>
                </a:solidFill>
                <a:latin typeface="微软雅黑"/>
              </a:rPr>
              <a:t>改进前后对比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58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D6D7E"/>
                </a:solidFill>
                <a:latin typeface="微软雅黑"/>
              </a:rPr>
              <a:t>关键指标变化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0000" y="870000"/>
            <a:ext cx="11300000" cy="450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0000" y="930000"/>
            <a:ext cx="1200000" cy="3400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第四幕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0000" y="945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7AE60"/>
                </a:solidFill>
                <a:latin typeface="微软雅黑"/>
              </a:rPr>
              <a:t>改进成果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50000" y="1500000"/>
          <a:ext cx="10000000" cy="4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0000"/>
                <a:gridCol w="2200000"/>
                <a:gridCol w="2200000"/>
                <a:gridCol w="2100000"/>
              </a:tblGrid>
              <a:tr h="571428"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改进前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改进后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变化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</a:tr>
              <a:tr h="571428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脚本行数（典型 20 页）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~900 行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~500 行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7AE60"/>
                          </a:solidFill>
                          <a:latin typeface="微软雅黑"/>
                        </a:rPr>
                        <a:t>↓ 44%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</a:tr>
              <a:tr h="571428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Helper 定义代码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~150 行/脚本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1 行 import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7AE60"/>
                          </a:solidFill>
                          <a:latin typeface="微软雅黑"/>
                        </a:rPr>
                        <a:t>↓ 99%</a:t>
                      </a:r>
                    </a:p>
                  </a:txBody>
                  <a:tcPr anchor="ctr"/>
                </a:tc>
              </a:tr>
              <a:tr h="571428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多脚本重复代码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~600 行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0 行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7AE60"/>
                          </a:solidFill>
                          <a:latin typeface="微软雅黑"/>
                        </a:rPr>
                        <a:t>彻底消除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</a:tr>
              <a:tr h="571428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25 页 deck 成功率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~25%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待实测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1A8A8A"/>
                          </a:solidFill>
                          <a:latin typeface="微软雅黑"/>
                        </a:rPr>
                        <a:t>预期提升</a:t>
                      </a:r>
                    </a:p>
                  </a:txBody>
                  <a:tcPr anchor="ctr"/>
                </a:tc>
              </a:tr>
              <a:tr h="571428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SyntaxError 风险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需手动修复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自动检测+修复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7AE60"/>
                          </a:solidFill>
                          <a:latin typeface="微软雅黑"/>
                        </a:rPr>
                        <a:t>消除</a:t>
                      </a:r>
                    </a:p>
                  </a:txBody>
                  <a:tcPr anchor="ctr">
                    <a:solidFill>
                      <a:srgbClr val="E8EDF2"/>
                    </a:solidFill>
                  </a:tcPr>
                </a:tc>
              </a:tr>
              <a:tr h="571432"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生成失败后处理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全部重来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D3436"/>
                          </a:solidFill>
                          <a:latin typeface="微软雅黑"/>
                        </a:rPr>
                        <a:t>断点续写</a:t>
                      </a:r>
                    </a:p>
                  </a:txBody>
                  <a:tcPr anchor="ctr"/>
                </a:tc>
                <a:tc>
                  <a:txBody>
                    <a:bodyPr wrap="square" lIns="72000" rIns="72000" tIns="36000" bIns="36000"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27AE60"/>
                          </a:solidFill>
                          <a:latin typeface="微软雅黑"/>
                        </a:rPr>
                        <a:t>成本↓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292000" y="6508000"/>
            <a:ext cx="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D6D7E"/>
                </a:solidFill>
                <a:latin typeface="微软雅黑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000"/>
            <a:ext cx="12192000" cy="32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3A5C"/>
                </a:solidFill>
                <a:latin typeface="微软雅黑"/>
              </a:rPr>
              <a:t>成果数据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580000"/>
            <a:ext cx="10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D6D7E"/>
                </a:solidFill>
                <a:latin typeface="微软雅黑"/>
              </a:rPr>
              <a:t>脚本体积与效率改善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0000" y="870000"/>
            <a:ext cx="11300000" cy="450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0000" y="930000"/>
            <a:ext cx="1200000" cy="3400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第四幕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0000" y="945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7AE60"/>
                </a:solidFill>
                <a:latin typeface="微软雅黑"/>
              </a:rPr>
              <a:t>改进成果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1300000"/>
            <a:ext cx="2600000" cy="38000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0000" y="1450000"/>
            <a:ext cx="2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微软雅黑"/>
              </a:rPr>
              <a:t>↓ 44%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000" y="240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脚本行数减少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000" y="2850000"/>
            <a:ext cx="24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微软雅黑"/>
              </a:rPr>
              <a:t>900 行</a:t>
            </a:r>
          </a:p>
          <a:p>
            <a:pPr algn="ctr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微软雅黑"/>
              </a:rPr>
              <a:t>→ 500 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0000" y="1300000"/>
            <a:ext cx="2600000" cy="3800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0000" y="1450000"/>
            <a:ext cx="2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微软雅黑"/>
              </a:rPr>
              <a:t>↓ 99%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0000" y="240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Helper 重复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0000" y="2850000"/>
            <a:ext cx="24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微软雅黑"/>
              </a:rPr>
              <a:t>150 行</a:t>
            </a:r>
          </a:p>
          <a:p>
            <a:pPr algn="ctr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微软雅黑"/>
              </a:rPr>
              <a:t>→ 1 行 import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0000" y="1300000"/>
            <a:ext cx="2600000" cy="38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000" y="1450000"/>
            <a:ext cx="2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微软雅黑"/>
              </a:rPr>
              <a:t>0 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000" y="240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重复配色定义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000" y="2850000"/>
            <a:ext cx="24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微软雅黑"/>
              </a:rPr>
              <a:t>每次都写</a:t>
            </a:r>
          </a:p>
          <a:p>
            <a:pPr algn="ctr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微软雅黑"/>
              </a:rPr>
              <a:t>→ 完全复用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0000" y="1300000"/>
            <a:ext cx="2600000" cy="3800000"/>
          </a:xfrm>
          <a:prstGeom prst="rect">
            <a:avLst/>
          </a:prstGeom>
          <a:solidFill>
            <a:srgbClr val="D48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50000" y="1450000"/>
            <a:ext cx="2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微软雅黑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0000" y="240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代码卫生保证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0000" y="2850000"/>
            <a:ext cx="24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微软雅黑"/>
              </a:rPr>
              <a:t>Unicode+语法</a:t>
            </a:r>
          </a:p>
          <a:p>
            <a:pPr algn="ctr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r>
              <a:rPr sz="1100" b="0">
                <a:solidFill>
                  <a:srgbClr val="FFFFFF"/>
                </a:solidFill>
                <a:latin typeface="微软雅黑"/>
              </a:rPr>
              <a:t>自动检测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0000" y="5400000"/>
            <a:ext cx="11500000" cy="1000000"/>
          </a:xfrm>
          <a:prstGeom prst="rect">
            <a:avLst/>
          </a:prstGeom>
          <a:solidFill>
            <a:srgbClr val="FEF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0000" y="5460000"/>
            <a:ext cx="1134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4880F"/>
                </a:solidFill>
                <a:latin typeface="微软雅黑"/>
              </a:rPr>
              <a:t>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0000" y="5730000"/>
            <a:ext cx="1134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100" b="0">
                <a:solidFill>
                  <a:srgbClr val="2D3436"/>
                </a:solidFill>
                <a:latin typeface="微软雅黑"/>
              </a:rPr>
              <a:t>脚本行数数据基于典型 20 页 deck；25 页以上 deck 的实测成功率待验证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000" y="6508000"/>
            <a:ext cx="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D6D7E"/>
                </a:solidFill>
                <a:latin typeface="微软雅黑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5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000"/>
            <a:ext cx="12192000" cy="32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0000" y="180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1B3A5C"/>
                </a:solidFill>
                <a:latin typeface="微软雅黑"/>
              </a:rPr>
              <a:t>关键结论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58000"/>
            <a:ext cx="12192000" cy="100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50000" y="870000"/>
            <a:ext cx="11300000" cy="45000"/>
          </a:xfrm>
          <a:prstGeom prst="rect">
            <a:avLst/>
          </a:prstGeom>
          <a:solidFill>
            <a:srgbClr val="D48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0000" y="930000"/>
            <a:ext cx="1200000" cy="340000"/>
          </a:xfrm>
          <a:prstGeom prst="rect">
            <a:avLst/>
          </a:prstGeom>
          <a:solidFill>
            <a:srgbClr val="D48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第五幕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0000" y="945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D4880F"/>
                </a:solidFill>
                <a:latin typeface="微软雅黑"/>
              </a:rPr>
              <a:t>结论与展望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000" y="1500000"/>
            <a:ext cx="480000" cy="3900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1515000"/>
            <a:ext cx="1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7AE60"/>
                </a:solidFill>
                <a:latin typeface="Courier New"/>
              </a:rPr>
              <a:t>已完成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0000" y="1515000"/>
            <a:ext cx="2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3436"/>
                </a:solidFill>
                <a:latin typeface="微软雅黑"/>
              </a:rPr>
              <a:t>pptx_helpers.py 落地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0" y="1535000"/>
            <a:ext cx="64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D6D7E"/>
                </a:solidFill>
                <a:latin typeface="微软雅黑"/>
              </a:rPr>
              <a:t>Helper 复用 + 配色方案 + sanitize_script，均已可用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000" y="2450000"/>
            <a:ext cx="480000" cy="3900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2465000"/>
            <a:ext cx="1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7AE60"/>
                </a:solidFill>
                <a:latin typeface="Courier New"/>
              </a:rPr>
              <a:t>已完成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0000" y="2465000"/>
            <a:ext cx="2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3436"/>
                </a:solidFill>
                <a:latin typeface="微软雅黑"/>
              </a:rPr>
              <a:t>agent 工作流更新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0" y="2485000"/>
            <a:ext cx="64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D6D7E"/>
                </a:solidFill>
                <a:latin typeface="微软雅黑"/>
              </a:rPr>
              <a:t>规划先行 → Helper 优先 → 分块生成 → 代码卫生 → 验证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0000" y="3400000"/>
            <a:ext cx="480000" cy="3900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000" y="3415000"/>
            <a:ext cx="1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7AE60"/>
                </a:solidFill>
                <a:latin typeface="Courier New"/>
              </a:rPr>
              <a:t>已完成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0000" y="3415000"/>
            <a:ext cx="2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3436"/>
                </a:solidFill>
                <a:latin typeface="微软雅黑"/>
              </a:rPr>
              <a:t>builder 风格示例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0" y="3435000"/>
            <a:ext cx="64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D6D7E"/>
                </a:solidFill>
                <a:latin typeface="微软雅黑"/>
              </a:rPr>
              <a:t>example_helpers.py 已改造，运行正常并输出 PPTX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0000" y="4350000"/>
            <a:ext cx="480000" cy="390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0000" y="4365000"/>
            <a:ext cx="1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A8A8A"/>
                </a:solidFill>
                <a:latin typeface="Courier New"/>
              </a:rPr>
              <a:t>已完成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0000" y="4365000"/>
            <a:ext cx="2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3436"/>
                </a:solidFill>
                <a:latin typeface="微软雅黑"/>
              </a:rPr>
              <a:t>16 页 deck 首次验证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0000" y="4385000"/>
            <a:ext cx="64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D6D7E"/>
                </a:solidFill>
                <a:latin typeface="微软雅黑"/>
              </a:rPr>
              <a:t>当前脚本即为首次系统性验证（本次运行）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0000" y="5300000"/>
            <a:ext cx="480000" cy="390000"/>
          </a:xfrm>
          <a:prstGeom prst="rect">
            <a:avLst/>
          </a:prstGeom>
          <a:solidFill>
            <a:srgbClr val="D48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000" y="5315000"/>
            <a:ext cx="1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4880F"/>
                </a:solidFill>
                <a:latin typeface="Courier New"/>
              </a:rPr>
              <a:t>待完成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0000" y="5315000"/>
            <a:ext cx="2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D3436"/>
                </a:solidFill>
                <a:latin typeface="微软雅黑"/>
              </a:rPr>
              <a:t>追加模式 + 断点续写演示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000" y="5335000"/>
            <a:ext cx="64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D6D7E"/>
                </a:solidFill>
                <a:latin typeface="微软雅黑"/>
              </a:rPr>
              <a:t>已写入 agent 工作流，但缺少现成示例脚本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000" y="6508000"/>
            <a:ext cx="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D6D7E"/>
                </a:solidFill>
                <a:latin typeface="微软雅黑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7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00000"/>
            <a:ext cx="12192000" cy="55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00000"/>
            <a:ext cx="12192000" cy="55000"/>
          </a:xfrm>
          <a:prstGeom prst="rect">
            <a:avLst/>
          </a:prstGeom>
          <a:solidFill>
            <a:srgbClr val="1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000" y="170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1A8A8A"/>
                </a:solidFill>
                <a:latin typeface="微软雅黑"/>
              </a:rPr>
              <a:t>后续计划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2600000"/>
            <a:ext cx="92000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微软雅黑"/>
              </a:rPr>
              <a:t>用 15~30 页真实业务 deck 进一步验证分块生成稳定性</a:t>
            </a:r>
          </a:p>
          <a:p>
            <a:pPr algn="l">
              <a:lnSpc>
                <a:spcPct val="16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微软雅黑"/>
              </a:rPr>
              <a:t>补充断点续写演示示例：从中断的 slide builder 列表恢复追加</a:t>
            </a:r>
          </a:p>
          <a:p>
            <a:pPr algn="l">
              <a:lnSpc>
                <a:spcPct val="160000"/>
              </a:lnSpc>
              <a:spcBef>
                <a:spcPts val="200"/>
              </a:spcBef>
              <a:spcAft>
                <a:spcPts val="200"/>
              </a:spcAft>
              <a:buChar char="•"/>
            </a:pPr>
            <a:r>
              <a:rPr sz="1400" b="0">
                <a:solidFill>
                  <a:srgbClr val="FFFFFF"/>
                </a:solidFill>
                <a:latin typeface="微软雅黑"/>
              </a:rPr>
              <a:t>如验证通过，将摘要格式和 slide plan 表格固化为可复用模板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4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微软雅黑"/>
              </a:rPr>
              <a:t>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54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A8A8A"/>
                </a:solidFill>
                <a:latin typeface="Courier New"/>
              </a:rPr>
              <a:t>github.com/Ami-zhang/pptx-creator-agent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000" y="6508000"/>
            <a:ext cx="7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5D6D7E"/>
                </a:solidFill>
                <a:latin typeface="微软雅黑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