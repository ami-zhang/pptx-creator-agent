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00000"/>
            <a:ext cx="12192000" cy="26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0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5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7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</a:rPr>
              <a:t>pptx_helpers 示例演示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4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BDC3C7"/>
                </a:solidFill>
                <a:latin typeface="微软雅黑"/>
              </a:rPr>
              <a:t>元素级组件库  |  3 套配色  |  12 个 Helper  |  开箱即用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A8A8A"/>
                </a:solidFill>
                <a:latin typeface="Courier New"/>
              </a:rPr>
              <a:t>from pptx_helpers import 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0000" y="1000000"/>
            <a:ext cx="500000" cy="40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103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8A8A"/>
                </a:solidFill>
                <a:latin typeface="微软雅黑"/>
              </a:rPr>
              <a:t>基础元素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000" y="106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矩形色块 + 文本框 + 多行文本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850000"/>
            <a:ext cx="500000" cy="4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00" y="188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3A5C"/>
                </a:solidFill>
                <a:latin typeface="微软雅黑"/>
              </a:rPr>
              <a:t>表格与单元格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0000" y="191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创建表格 + 填充 + 样式化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2700000"/>
            <a:ext cx="500000" cy="40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273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4880F"/>
                </a:solidFill>
                <a:latin typeface="微软雅黑"/>
              </a:rPr>
              <a:t>代码块与信息框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0000" y="276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深色代码块 + 高亮框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3550000"/>
            <a:ext cx="500000" cy="4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00" y="358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0392B"/>
                </a:solidFill>
                <a:latin typeface="微软雅黑"/>
              </a:rPr>
              <a:t>徽章与章节标记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000" y="361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标签徽章 + 幕标题条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00" y="4400000"/>
            <a:ext cx="500000" cy="40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00" y="443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7AE60"/>
                </a:solidFill>
                <a:latin typeface="微软雅黑"/>
              </a:rPr>
              <a:t>富文本列表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0000" y="446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每行独立样式的列表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000" y="5250000"/>
            <a:ext cx="500000" cy="4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000" y="528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67E22"/>
                </a:solidFill>
                <a:latin typeface="微软雅黑"/>
              </a:rPr>
              <a:t>配色方案对比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0000" y="531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3 套内置配色方案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基础元素演示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add_bg + tb +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8A8A"/>
                </a:solidFill>
                <a:latin typeface="微软雅黑"/>
              </a:rPr>
              <a:t>基础元素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500000"/>
            <a:ext cx="3500000" cy="20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6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add_bg() — 矩形色块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2000000"/>
            <a:ext cx="3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纯色填充矩形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无边框、无阴影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可作为背景、色块、表头底色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最常用的基础元素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0000" y="1500000"/>
            <a:ext cx="3500000" cy="2000000"/>
          </a:xfrm>
          <a:prstGeom prst="rect">
            <a:avLst/>
          </a:prstGeom>
          <a:solidFill>
            <a:srgbClr val="E8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0000" y="16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7AE60"/>
                </a:solidFill>
                <a:latin typeface="微软雅黑"/>
              </a:rPr>
              <a:t>tb() — 单行文本框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0000" y="20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3436"/>
                </a:solidFill>
                <a:latin typeface="微软雅黑"/>
              </a:rPr>
              <a:t>字号、加粗、颜色、对齐、字体、行距全可控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000" y="24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← 24pt 粗体 Navy 居中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0000" y="2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← 12pt 普通 Green 左对齐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0000" y="1500000"/>
            <a:ext cx="3900000" cy="2000000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0000" y="1600000"/>
            <a:ext cx="3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880F"/>
                </a:solidFill>
                <a:latin typeface="微软雅黑"/>
              </a:rPr>
              <a:t>ml() — 多行文本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000" y="2000000"/>
            <a:ext cx="36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支持 bullet 项目符号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行距可调 (ls=1.3)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可设置加粗、对齐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适合列举要点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" y="38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调用示例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000" y="4200000"/>
            <a:ext cx="11300000" cy="21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000" y="4240000"/>
            <a:ext cx="11180000" cy="2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add_bg(s, Emu(350000), Emu(1500000), Emu(3500000), Emu(2000000), C['light_blue'])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tb(s, l, t, w, h, '标题文本', sz=24, b=True, c=C['navy'],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ml(s, l, t, w, h,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['第一行', '第二行', '第三行'],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sz=12, bullet=True, ls=1.4, C=C)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表格演示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ct + ft + sc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第二幕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表格与单元格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0000" y="1500000"/>
          <a:ext cx="820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200000"/>
                <a:gridCol w="1500000"/>
                <a:gridCol w="1500000"/>
              </a:tblGrid>
              <a:tr h="500000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Helper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使用频次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粒度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add_bg()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纯色矩形背景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tb()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单行文本框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ml()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多行文本 + bullet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ct() + ft()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创建表格 + 填充数据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sc()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设置单元格样式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单元格级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code()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深色代码块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hbox()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带标题的信息框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badge()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序号/标签徽章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800000" y="1500000"/>
            <a:ext cx="3100000" cy="45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0000" y="1600000"/>
            <a:ext cx="2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sc() 单元格样式化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0000" y="2050000"/>
            <a:ext cx="3000000" cy="37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0000" y="2090000"/>
            <a:ext cx="2880000" cy="3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# 设置单元格样式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sc(tbl.cell(1,2),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'✅ 通过',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sz=12,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b=True,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fc=C['green'],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bg=C['light_green'],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al=PP_ALIGN.CENTER,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# 红色警告单元格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sc(tbl.cell(2,2),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'❌ 失败',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fc=C['red'],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bg=C['light_red'],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E0E0E0"/>
                </a:solidFill>
                <a:latin typeface="Courier New"/>
              </a:rPr>
              <a:t>   C=C)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代码块与信息框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code + hbox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4880F"/>
                </a:solidFill>
                <a:latin typeface="微软雅黑"/>
              </a:rPr>
              <a:t>代码块与信息框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5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code() — 深色背景代码块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00000"/>
            <a:ext cx="5500000" cy="18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000" y="1940000"/>
            <a:ext cx="53800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from pptx_helpers import *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prs, C = create_prs("navy_teal")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# 创建幻灯片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s = prs.slides.add_slide(prs.slide_layouts[6])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bar(s, "标题", "副标题",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sn(s, 1, 10, 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15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hbox() — 带标题的高亮信息框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0000" y="1900000"/>
            <a:ext cx="5600000" cy="1800000"/>
          </a:xfrm>
          <a:prstGeom prst="rect">
            <a:avLst/>
          </a:prstGeom>
          <a:solidFill>
            <a:srgbClr val="E8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0000" y="1960000"/>
            <a:ext cx="54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7AE60"/>
                </a:solidFill>
                <a:latin typeface="微软雅黑"/>
              </a:rPr>
              <a:t>优点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0000" y="2230000"/>
            <a:ext cx="5440000" cy="1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支持标题 + 多行内容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可自定义背景色和标题色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自带 bullet 列表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适合左右对比布局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40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双栏对比布局示例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000" y="4400000"/>
            <a:ext cx="5500000" cy="20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000" y="4460000"/>
            <a:ext cx="53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方案 A：短期修复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000" y="4730000"/>
            <a:ext cx="53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零成本实施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不需要重新编译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覆盖 80% 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0000" y="4400000"/>
            <a:ext cx="5600000" cy="2000000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0000" y="4460000"/>
            <a:ext cx="54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880F"/>
                </a:solidFill>
                <a:latin typeface="微软雅黑"/>
              </a:rPr>
              <a:t>方案 B：架构升级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0000" y="4730000"/>
            <a:ext cx="5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需要 1-3 个月开发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根本解决问题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覆盖 100%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徽章与章节标记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badge + act_badge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80000"/>
            <a:ext cx="11300000" cy="4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40000"/>
            <a:ext cx="1200000" cy="3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第四幕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5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392B"/>
                </a:solidFill>
                <a:latin typeface="微软雅黑"/>
              </a:rPr>
              <a:t>徽章与章节标记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5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badge() — 序号/标签徽章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1950000"/>
            <a:ext cx="700000" cy="4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0000" y="1950000"/>
            <a:ext cx="700000" cy="40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0000" y="1950000"/>
            <a:ext cx="700000" cy="40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0000" y="1950000"/>
            <a:ext cx="700000" cy="4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000" y="1950000"/>
            <a:ext cx="700000" cy="40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0" y="1950000"/>
            <a:ext cx="700000" cy="40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27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act_badge() — 章节标记条（每一幕的开头）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000" y="3200000"/>
            <a:ext cx="11300000" cy="4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000" y="3260000"/>
            <a:ext cx="1200000" cy="3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0000" y="327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392B"/>
                </a:solidFill>
                <a:latin typeface="微软雅黑"/>
              </a:rPr>
              <a:t>问题发现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3750000"/>
            <a:ext cx="11300000" cy="4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0000" y="3810000"/>
            <a:ext cx="1200000" cy="34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第二幕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0000" y="382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8A8A"/>
                </a:solidFill>
                <a:latin typeface="微软雅黑"/>
              </a:rPr>
              <a:t>系统测试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000" y="4300000"/>
            <a:ext cx="11300000" cy="45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" y="4360000"/>
            <a:ext cx="1200000" cy="34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0000" y="437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7AE60"/>
                </a:solidFill>
                <a:latin typeface="微软雅黑"/>
              </a:rPr>
              <a:t>解决方案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4850000"/>
            <a:ext cx="11300000" cy="45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000" y="4910000"/>
            <a:ext cx="1200000" cy="34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第四幕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0000" y="492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4880F"/>
                </a:solidFill>
                <a:latin typeface="微软雅黑"/>
              </a:rPr>
              <a:t>竞品对比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000" y="5500000"/>
            <a:ext cx="11300000" cy="8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000" y="5540000"/>
            <a:ext cx="11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badge(s, l, t, w, h, 'P0', C['red'],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act_badge(s, Emu(350000), Emu(880000), '一', '章节标题', C['teal'], C=C)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富文本列表 &amp; 配色方案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rl + create_prs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00" y="95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rl() — 每行独立样式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1400000"/>
            <a:ext cx="5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C0392B"/>
                </a:solidFill>
                <a:latin typeface="微软雅黑"/>
              </a:rPr>
              <a:t>★ P0：立即执行的修复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D4880F"/>
                </a:solidFill>
                <a:latin typeface="微软雅黑"/>
              </a:rPr>
              <a:t>★ P1：短期优化方案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A8A8A"/>
                </a:solidFill>
                <a:latin typeface="微软雅黑"/>
              </a:rPr>
              <a:t>★ P2：中期架构升级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200" b="0">
                <a:solidFill>
                  <a:srgbClr val="2D3436"/>
                </a:solidFill>
                <a:latin typeface="微软雅黑"/>
              </a:rPr>
              <a:t>— 普通文本行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5D6D7E"/>
                </a:solidFill>
                <a:latin typeface="微软雅黑"/>
              </a:rPr>
              <a:t>— 灰色注释行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9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3 套内置配色方案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00000" y="1400000"/>
          <a:ext cx="60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500000"/>
                <a:gridCol w="1500000"/>
                <a:gridCol w="1800000"/>
              </a:tblGrid>
              <a:tr h="500000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方案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辅色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navy_teal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Navy #1B3A5C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Teal #1A8A8A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技术汇报、产品分析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tech_dark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Dark #0F0F23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Cyan #00D9FF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AI/科技、深色演示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corporate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Blue #2E5C9A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Blue #2E5C9A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企业正式、白底蓝头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0000" y="4000000"/>
            <a:ext cx="11300000" cy="24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000" y="4040000"/>
            <a:ext cx="11180000" cy="2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# 富文本列表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items = [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('P0 紧急修复', 14, True, C['red']),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('P1 优化方案', 14, True, C['amber']),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('普通说明',    12, False, C['black']),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]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rl(s, l, t, w, h, items, ls=1.5,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# 切换配色方案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prs, C = create_prs('tech_dark')   # 深色科技风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prs, C = create_prs('corporate')   # 企业正式风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00000"/>
            <a:ext cx="12192000" cy="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29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</a:rPr>
              <a:t>pptx_helpers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5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BDC3C7"/>
                </a:solidFill>
                <a:latin typeface="微软雅黑"/>
              </a:rPr>
              <a:t>元素级组件库  ·  开箱即用  ·  专为复杂混合布局设计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47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8A8A"/>
                </a:solidFill>
                <a:latin typeface="Courier New"/>
              </a:rPr>
              <a:t>github.com/Ami-zhang/pptx-creator-agent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