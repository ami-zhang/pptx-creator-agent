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9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400000"/>
            <a:ext cx="12192000" cy="260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400000"/>
            <a:ext cx="12192000" cy="50000"/>
          </a:xfrm>
          <a:prstGeom prst="rect">
            <a:avLst/>
          </a:prstGeom>
          <a:solidFill>
            <a:srgbClr val="1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4950000"/>
            <a:ext cx="12192000" cy="50000"/>
          </a:xfrm>
          <a:prstGeom prst="rect">
            <a:avLst/>
          </a:prstGeom>
          <a:solidFill>
            <a:srgbClr val="1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0000" y="27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</a:rPr>
              <a:t>pptx_helpers 示例演示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34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DC3C7"/>
                </a:solidFill>
                <a:latin typeface="微软雅黑"/>
              </a:rPr>
              <a:t>元素级组件库  |  3 套配色  |  12 个 Helper  |  开箱即用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000000"/>
            <a:ext cx="10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1A8A8A"/>
                </a:solidFill>
                <a:latin typeface="Courier New"/>
              </a:rPr>
              <a:t>from pptx_helpers import 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000" y="6508000"/>
            <a:ext cx="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D6D7E"/>
                </a:solidFill>
                <a:latin typeface="微软雅黑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5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5000"/>
            <a:ext cx="12192000" cy="32000"/>
          </a:xfrm>
          <a:prstGeom prst="rect">
            <a:avLst/>
          </a:prstGeom>
          <a:solidFill>
            <a:srgbClr val="1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0000" y="180000"/>
            <a:ext cx="100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B3A5C"/>
                </a:solidFill>
                <a:latin typeface="微软雅黑"/>
              </a:rPr>
              <a:t>目录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58000"/>
            <a:ext cx="12192000" cy="10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00000" y="1000000"/>
            <a:ext cx="500000" cy="400000"/>
          </a:xfrm>
          <a:prstGeom prst="rect">
            <a:avLst/>
          </a:prstGeom>
          <a:solidFill>
            <a:srgbClr val="1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000" y="1030000"/>
            <a:ext cx="4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8A8A"/>
                </a:solidFill>
                <a:latin typeface="微软雅黑"/>
              </a:rPr>
              <a:t>基础元素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0000" y="1060000"/>
            <a:ext cx="5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D6D7E"/>
                </a:solidFill>
                <a:latin typeface="微软雅黑"/>
              </a:rPr>
              <a:t>矩形色块 + 文本框 + 多行文本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1850000"/>
            <a:ext cx="500000" cy="40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000" y="1880000"/>
            <a:ext cx="4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3A5C"/>
                </a:solidFill>
                <a:latin typeface="微软雅黑"/>
              </a:rPr>
              <a:t>表格与单元格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0000" y="1910000"/>
            <a:ext cx="5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D6D7E"/>
                </a:solidFill>
                <a:latin typeface="微软雅黑"/>
              </a:rPr>
              <a:t>创建表格 + 填充 + 样式化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2700000"/>
            <a:ext cx="500000" cy="400000"/>
          </a:xfrm>
          <a:prstGeom prst="rect">
            <a:avLst/>
          </a:prstGeom>
          <a:solidFill>
            <a:srgbClr val="D48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000" y="2730000"/>
            <a:ext cx="4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D4880F"/>
                </a:solidFill>
                <a:latin typeface="微软雅黑"/>
              </a:rPr>
              <a:t>代码块与信息框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0000" y="2760000"/>
            <a:ext cx="5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D6D7E"/>
                </a:solidFill>
                <a:latin typeface="微软雅黑"/>
              </a:rPr>
              <a:t>深色代码块 + 高亮框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0000" y="3550000"/>
            <a:ext cx="500000" cy="4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000" y="3580000"/>
            <a:ext cx="4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C0392B"/>
                </a:solidFill>
                <a:latin typeface="微软雅黑"/>
              </a:rPr>
              <a:t>徽章与章节标记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0000" y="3610000"/>
            <a:ext cx="5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D6D7E"/>
                </a:solidFill>
                <a:latin typeface="微软雅黑"/>
              </a:rPr>
              <a:t>标签徽章 + 幕标题条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00" y="4400000"/>
            <a:ext cx="500000" cy="400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000" y="4430000"/>
            <a:ext cx="4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7AE60"/>
                </a:solidFill>
                <a:latin typeface="微软雅黑"/>
              </a:rPr>
              <a:t>富文本列表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0000" y="4460000"/>
            <a:ext cx="5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D6D7E"/>
                </a:solidFill>
                <a:latin typeface="微软雅黑"/>
              </a:rPr>
              <a:t>每行独立样式的列表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0000" y="5250000"/>
            <a:ext cx="500000" cy="400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000" y="5280000"/>
            <a:ext cx="4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E67E22"/>
                </a:solidFill>
                <a:latin typeface="微软雅黑"/>
              </a:rPr>
              <a:t>配色方案对比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0000" y="5310000"/>
            <a:ext cx="5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D6D7E"/>
                </a:solidFill>
                <a:latin typeface="微软雅黑"/>
              </a:rPr>
              <a:t>3 套内置配色方案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000" y="6508000"/>
            <a:ext cx="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D6D7E"/>
                </a:solidFill>
                <a:latin typeface="微软雅黑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5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5000"/>
            <a:ext cx="12192000" cy="32000"/>
          </a:xfrm>
          <a:prstGeom prst="rect">
            <a:avLst/>
          </a:prstGeom>
          <a:solidFill>
            <a:srgbClr val="1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0000" y="180000"/>
            <a:ext cx="100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B3A5C"/>
                </a:solidFill>
                <a:latin typeface="微软雅黑"/>
              </a:rPr>
              <a:t>基础元素演示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580000"/>
            <a:ext cx="10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D6D7E"/>
                </a:solidFill>
                <a:latin typeface="微软雅黑"/>
              </a:rPr>
              <a:t>add_bg + tb +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58000"/>
            <a:ext cx="12192000" cy="10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50000" y="880000"/>
            <a:ext cx="11300000" cy="45000"/>
          </a:xfrm>
          <a:prstGeom prst="rect">
            <a:avLst/>
          </a:prstGeom>
          <a:solidFill>
            <a:srgbClr val="1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50000" y="940000"/>
            <a:ext cx="1200000" cy="340000"/>
          </a:xfrm>
          <a:prstGeom prst="rect">
            <a:avLst/>
          </a:prstGeom>
          <a:solidFill>
            <a:srgbClr val="1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第一幕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0000" y="955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8A8A"/>
                </a:solidFill>
                <a:latin typeface="微软雅黑"/>
              </a:rPr>
              <a:t>基础元素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0000" y="1500000"/>
            <a:ext cx="3500000" cy="2000000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000" y="1600000"/>
            <a:ext cx="3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add_bg() — 矩形色块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000" y="2000000"/>
            <a:ext cx="32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200" b="0">
                <a:solidFill>
                  <a:srgbClr val="2D3436"/>
                </a:solidFill>
                <a:latin typeface="微软雅黑"/>
              </a:rPr>
              <a:t>纯色填充矩形</a:t>
            </a: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200" b="0">
                <a:solidFill>
                  <a:srgbClr val="2D3436"/>
                </a:solidFill>
                <a:latin typeface="微软雅黑"/>
              </a:rPr>
              <a:t>无边框、无阴影</a:t>
            </a: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200" b="0">
                <a:solidFill>
                  <a:srgbClr val="2D3436"/>
                </a:solidFill>
                <a:latin typeface="微软雅黑"/>
              </a:rPr>
              <a:t>可作为背景、色块、表头底色</a:t>
            </a: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200" b="0">
                <a:solidFill>
                  <a:srgbClr val="2D3436"/>
                </a:solidFill>
                <a:latin typeface="微软雅黑"/>
              </a:rPr>
              <a:t>最常用的基础元素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00000" y="1500000"/>
            <a:ext cx="3500000" cy="2000000"/>
          </a:xfrm>
          <a:prstGeom prst="rect">
            <a:avLst/>
          </a:prstGeom>
          <a:solidFill>
            <a:srgbClr val="E8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50000" y="1600000"/>
            <a:ext cx="3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7AE60"/>
                </a:solidFill>
                <a:latin typeface="微软雅黑"/>
              </a:rPr>
              <a:t>tb() — 单行文本框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0000" y="2050000"/>
            <a:ext cx="3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D3436"/>
                </a:solidFill>
                <a:latin typeface="微软雅黑"/>
              </a:rPr>
              <a:t>字号、加粗、颜色、对齐、字体、行距全可控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0000" y="2450000"/>
            <a:ext cx="3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D7E"/>
                </a:solidFill>
                <a:latin typeface="微软雅黑"/>
              </a:rPr>
              <a:t>← 24pt 粗体 Navy 居中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0000" y="2800000"/>
            <a:ext cx="3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D7E"/>
                </a:solidFill>
                <a:latin typeface="微软雅黑"/>
              </a:rPr>
              <a:t>← 12pt 普通 Green 左对齐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50000" y="1500000"/>
            <a:ext cx="3900000" cy="2000000"/>
          </a:xfrm>
          <a:prstGeom prst="rect">
            <a:avLst/>
          </a:prstGeom>
          <a:solidFill>
            <a:srgbClr val="FEF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00000" y="1600000"/>
            <a:ext cx="3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4880F"/>
                </a:solidFill>
                <a:latin typeface="微软雅黑"/>
              </a:rPr>
              <a:t>ml() — 多行文本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0000" y="2000000"/>
            <a:ext cx="36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200" b="0">
                <a:solidFill>
                  <a:srgbClr val="2D3436"/>
                </a:solidFill>
                <a:latin typeface="微软雅黑"/>
              </a:rPr>
              <a:t>支持 bullet 项目符号</a:t>
            </a: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200" b="0">
                <a:solidFill>
                  <a:srgbClr val="2D3436"/>
                </a:solidFill>
                <a:latin typeface="微软雅黑"/>
              </a:rPr>
              <a:t>行距可调 (ls=1.3)</a:t>
            </a: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200" b="0">
                <a:solidFill>
                  <a:srgbClr val="2D3436"/>
                </a:solidFill>
                <a:latin typeface="微软雅黑"/>
              </a:rPr>
              <a:t>可设置加粗、对齐</a:t>
            </a: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200" b="0">
                <a:solidFill>
                  <a:srgbClr val="2D3436"/>
                </a:solidFill>
                <a:latin typeface="微软雅黑"/>
              </a:rPr>
              <a:t>适合列举要点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000" y="3800000"/>
            <a:ext cx="11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调用示例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000" y="4200000"/>
            <a:ext cx="11300000" cy="2100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0000" y="4240000"/>
            <a:ext cx="11180000" cy="2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E0E0E0"/>
                </a:solidFill>
                <a:latin typeface="Courier New"/>
              </a:rPr>
              <a:t>add_bg(s, Emu(350000), Emu(1500000), Emu(3500000), Emu(2000000), C['light_blue'])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endParaRPr sz="1000">
              <a:solidFill>
                <a:srgbClr val="E0E0E0"/>
              </a:solidFill>
              <a:latin typeface="Courier New"/>
            </a:endParaRP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E0E0E0"/>
                </a:solidFill>
                <a:latin typeface="Courier New"/>
              </a:rPr>
              <a:t>tb(s, l, t, w, h, '标题文本', sz=24, b=True, c=C['navy'], C=C)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endParaRPr sz="1000">
              <a:solidFill>
                <a:srgbClr val="E0E0E0"/>
              </a:solidFill>
              <a:latin typeface="Courier New"/>
            </a:endParaRP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E0E0E0"/>
                </a:solidFill>
                <a:latin typeface="Courier New"/>
              </a:rPr>
              <a:t>ml(s, l, t, w, h,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E0E0E0"/>
                </a:solidFill>
                <a:latin typeface="Courier New"/>
              </a:rPr>
              <a:t>   ['第一行', '第二行', '第三行'],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E0E0E0"/>
                </a:solidFill>
                <a:latin typeface="Courier New"/>
              </a:rPr>
              <a:t>   sz=12, bullet=True, ls=1.4, C=C)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000" y="6508000"/>
            <a:ext cx="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D6D7E"/>
                </a:solidFill>
                <a:latin typeface="微软雅黑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5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5000"/>
            <a:ext cx="12192000" cy="32000"/>
          </a:xfrm>
          <a:prstGeom prst="rect">
            <a:avLst/>
          </a:prstGeom>
          <a:solidFill>
            <a:srgbClr val="1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0000" y="180000"/>
            <a:ext cx="100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B3A5C"/>
                </a:solidFill>
                <a:latin typeface="微软雅黑"/>
              </a:rPr>
              <a:t>表格演示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580000"/>
            <a:ext cx="10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D6D7E"/>
                </a:solidFill>
                <a:latin typeface="微软雅黑"/>
              </a:rPr>
              <a:t>ct + ft + sc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58000"/>
            <a:ext cx="12192000" cy="10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50000" y="880000"/>
            <a:ext cx="11300000" cy="45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50000" y="940000"/>
            <a:ext cx="1200000" cy="34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第二幕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0000" y="955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表格与单元格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50000" y="1500000"/>
          <a:ext cx="8200000" cy="4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Helper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用途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使用频次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粒度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add_bg()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纯色矩形背景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极高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元素级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tb()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单行文本框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极高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元素级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ml()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多行文本 + bullet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高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元素级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ct() + ft()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创建表格 + 填充数据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元素级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sc()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设置单元格样式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高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单元格级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code()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深色代码块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元素级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hbox()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带标题的信息框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高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元素级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badge()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序号/标签徽章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2D3436"/>
                          </a:solidFill>
                          <a:latin typeface="微软雅黑"/>
                        </a:rPr>
                        <a:t>元素级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800000" y="1500000"/>
            <a:ext cx="3100000" cy="4500000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50000" y="1600000"/>
            <a:ext cx="28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sc() 单元格样式化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00000" y="2050000"/>
            <a:ext cx="3000000" cy="3700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0000" y="2090000"/>
            <a:ext cx="2880000" cy="3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E0E0E0"/>
                </a:solidFill>
                <a:latin typeface="Courier New"/>
              </a:rPr>
              <a:t># 设置单元格样式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E0E0E0"/>
                </a:solidFill>
                <a:latin typeface="Courier New"/>
              </a:rPr>
              <a:t>sc(tbl.cell(1,2),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E0E0E0"/>
                </a:solidFill>
                <a:latin typeface="Courier New"/>
              </a:rPr>
              <a:t>   '✅ 通过',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E0E0E0"/>
                </a:solidFill>
                <a:latin typeface="Courier New"/>
              </a:rPr>
              <a:t>   sz=12,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E0E0E0"/>
                </a:solidFill>
                <a:latin typeface="Courier New"/>
              </a:rPr>
              <a:t>   b=True,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E0E0E0"/>
                </a:solidFill>
                <a:latin typeface="Courier New"/>
              </a:rPr>
              <a:t>   fc=C['green'],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E0E0E0"/>
                </a:solidFill>
                <a:latin typeface="Courier New"/>
              </a:rPr>
              <a:t>   bg=C['light_green'],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E0E0E0"/>
                </a:solidFill>
                <a:latin typeface="Courier New"/>
              </a:rPr>
              <a:t>   al=PP_ALIGN.CENTER,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E0E0E0"/>
                </a:solidFill>
                <a:latin typeface="Courier New"/>
              </a:rPr>
              <a:t>   C=C)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endParaRPr sz="900">
              <a:solidFill>
                <a:srgbClr val="E0E0E0"/>
              </a:solidFill>
              <a:latin typeface="Courier New"/>
            </a:endParaRP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E0E0E0"/>
                </a:solidFill>
                <a:latin typeface="Courier New"/>
              </a:rPr>
              <a:t># 红色警告单元格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E0E0E0"/>
                </a:solidFill>
                <a:latin typeface="Courier New"/>
              </a:rPr>
              <a:t>sc(tbl.cell(2,2),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E0E0E0"/>
                </a:solidFill>
                <a:latin typeface="Courier New"/>
              </a:rPr>
              <a:t>   '❌ 失败',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E0E0E0"/>
                </a:solidFill>
                <a:latin typeface="Courier New"/>
              </a:rPr>
              <a:t>   fc=C['red'],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E0E0E0"/>
                </a:solidFill>
                <a:latin typeface="Courier New"/>
              </a:rPr>
              <a:t>   bg=C['light_red'],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E0E0E0"/>
                </a:solidFill>
                <a:latin typeface="Courier New"/>
              </a:rPr>
              <a:t>   C=C)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000" y="6508000"/>
            <a:ext cx="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D6D7E"/>
                </a:solidFill>
                <a:latin typeface="微软雅黑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5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5000"/>
            <a:ext cx="12192000" cy="32000"/>
          </a:xfrm>
          <a:prstGeom prst="rect">
            <a:avLst/>
          </a:prstGeom>
          <a:solidFill>
            <a:srgbClr val="1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0000" y="180000"/>
            <a:ext cx="100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B3A5C"/>
                </a:solidFill>
                <a:latin typeface="微软雅黑"/>
              </a:rPr>
              <a:t>代码块与信息框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580000"/>
            <a:ext cx="10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D6D7E"/>
                </a:solidFill>
                <a:latin typeface="微软雅黑"/>
              </a:rPr>
              <a:t>code + hbox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58000"/>
            <a:ext cx="12192000" cy="10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50000" y="880000"/>
            <a:ext cx="11300000" cy="45000"/>
          </a:xfrm>
          <a:prstGeom prst="rect">
            <a:avLst/>
          </a:prstGeom>
          <a:solidFill>
            <a:srgbClr val="D48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50000" y="940000"/>
            <a:ext cx="1200000" cy="340000"/>
          </a:xfrm>
          <a:prstGeom prst="rect">
            <a:avLst/>
          </a:prstGeom>
          <a:solidFill>
            <a:srgbClr val="D48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第三幕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0000" y="955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4880F"/>
                </a:solidFill>
                <a:latin typeface="微软雅黑"/>
              </a:rPr>
              <a:t>代码块与信息框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000" y="1500000"/>
            <a:ext cx="5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code() — 深色背景代码块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000" y="1900000"/>
            <a:ext cx="5500000" cy="1850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0000" y="1940000"/>
            <a:ext cx="5380000" cy="1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dirty="0">
                <a:solidFill>
                  <a:srgbClr val="E0E0E0"/>
                </a:solidFill>
                <a:latin typeface="Courier New"/>
              </a:rPr>
              <a:t>from </a:t>
            </a:r>
            <a:r>
              <a:rPr sz="1100" dirty="0" err="1">
                <a:solidFill>
                  <a:srgbClr val="E0E0E0"/>
                </a:solidFill>
                <a:latin typeface="Courier New"/>
              </a:rPr>
              <a:t>pptx_helpers</a:t>
            </a:r>
            <a:r>
              <a:rPr sz="1100" dirty="0">
                <a:solidFill>
                  <a:srgbClr val="E0E0E0"/>
                </a:solidFill>
                <a:latin typeface="Courier New"/>
              </a:rPr>
              <a:t> import *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endParaRPr sz="1100" dirty="0">
              <a:solidFill>
                <a:srgbClr val="E0E0E0"/>
              </a:solidFill>
              <a:latin typeface="Courier New"/>
            </a:endParaRP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dirty="0">
                <a:solidFill>
                  <a:srgbClr val="E0E0E0"/>
                </a:solidFill>
                <a:latin typeface="Courier New"/>
              </a:rPr>
              <a:t>prs, C = </a:t>
            </a:r>
            <a:r>
              <a:rPr sz="1100" dirty="0" err="1">
                <a:solidFill>
                  <a:srgbClr val="E0E0E0"/>
                </a:solidFill>
                <a:latin typeface="Courier New"/>
              </a:rPr>
              <a:t>create_prs</a:t>
            </a:r>
            <a:r>
              <a:rPr sz="1100" dirty="0">
                <a:solidFill>
                  <a:srgbClr val="E0E0E0"/>
                </a:solidFill>
                <a:latin typeface="Courier New"/>
              </a:rPr>
              <a:t>("</a:t>
            </a:r>
            <a:r>
              <a:rPr sz="1100" dirty="0" err="1">
                <a:solidFill>
                  <a:srgbClr val="E0E0E0"/>
                </a:solidFill>
                <a:latin typeface="Courier New"/>
              </a:rPr>
              <a:t>navy_teal</a:t>
            </a:r>
            <a:r>
              <a:rPr sz="1100" dirty="0">
                <a:solidFill>
                  <a:srgbClr val="E0E0E0"/>
                </a:solidFill>
                <a:latin typeface="Courier New"/>
              </a:rPr>
              <a:t>")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endParaRPr sz="1100" dirty="0">
              <a:solidFill>
                <a:srgbClr val="E0E0E0"/>
              </a:solidFill>
              <a:latin typeface="Courier New"/>
            </a:endParaRP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dirty="0">
                <a:solidFill>
                  <a:srgbClr val="E0E0E0"/>
                </a:solidFill>
                <a:latin typeface="Courier New"/>
              </a:rPr>
              <a:t>def build_slide_01(prs, C):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dirty="0">
                <a:solidFill>
                  <a:srgbClr val="E0E0E0"/>
                </a:solidFill>
                <a:latin typeface="Courier New"/>
              </a:rPr>
              <a:t>    s = </a:t>
            </a:r>
            <a:r>
              <a:rPr sz="1100" dirty="0" err="1">
                <a:solidFill>
                  <a:srgbClr val="E0E0E0"/>
                </a:solidFill>
                <a:latin typeface="Courier New"/>
              </a:rPr>
              <a:t>prs.slides.add_slide</a:t>
            </a:r>
            <a:r>
              <a:rPr sz="1100" dirty="0">
                <a:solidFill>
                  <a:srgbClr val="E0E0E0"/>
                </a:solidFill>
                <a:latin typeface="Courier New"/>
              </a:rPr>
              <a:t>(</a:t>
            </a:r>
            <a:r>
              <a:rPr sz="1100" dirty="0" err="1">
                <a:solidFill>
                  <a:srgbClr val="E0E0E0"/>
                </a:solidFill>
                <a:latin typeface="Courier New"/>
              </a:rPr>
              <a:t>prs.slide_layouts</a:t>
            </a:r>
            <a:r>
              <a:rPr sz="1100" dirty="0">
                <a:solidFill>
                  <a:srgbClr val="E0E0E0"/>
                </a:solidFill>
                <a:latin typeface="Courier New"/>
              </a:rPr>
              <a:t>[6])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dirty="0">
                <a:solidFill>
                  <a:srgbClr val="E0E0E0"/>
                </a:solidFill>
                <a:latin typeface="Courier New"/>
              </a:rPr>
              <a:t>    bar(s, "</a:t>
            </a:r>
            <a:r>
              <a:rPr sz="1100" dirty="0" err="1">
                <a:solidFill>
                  <a:srgbClr val="E0E0E0"/>
                </a:solidFill>
                <a:latin typeface="Courier New"/>
              </a:rPr>
              <a:t>标题</a:t>
            </a:r>
            <a:r>
              <a:rPr sz="1100" dirty="0">
                <a:solidFill>
                  <a:srgbClr val="E0E0E0"/>
                </a:solidFill>
                <a:latin typeface="Courier New"/>
              </a:rPr>
              <a:t>", "</a:t>
            </a:r>
            <a:r>
              <a:rPr sz="1100" dirty="0" err="1">
                <a:solidFill>
                  <a:srgbClr val="E0E0E0"/>
                </a:solidFill>
                <a:latin typeface="Courier New"/>
              </a:rPr>
              <a:t>副标题</a:t>
            </a:r>
            <a:r>
              <a:rPr sz="1100" dirty="0">
                <a:solidFill>
                  <a:srgbClr val="E0E0E0"/>
                </a:solidFill>
                <a:latin typeface="Courier New"/>
              </a:rPr>
              <a:t>", C=C)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100" dirty="0">
                <a:solidFill>
                  <a:srgbClr val="E0E0E0"/>
                </a:solidFill>
                <a:latin typeface="Courier New"/>
              </a:rPr>
              <a:t>    </a:t>
            </a:r>
            <a:r>
              <a:rPr sz="1100" dirty="0" err="1">
                <a:solidFill>
                  <a:srgbClr val="E0E0E0"/>
                </a:solidFill>
                <a:latin typeface="Courier New"/>
              </a:rPr>
              <a:t>sn</a:t>
            </a:r>
            <a:r>
              <a:rPr sz="1100" dirty="0">
                <a:solidFill>
                  <a:srgbClr val="E0E0E0"/>
                </a:solidFill>
                <a:latin typeface="Courier New"/>
              </a:rPr>
              <a:t>(s, 1, 10, C=C)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0000" y="1500000"/>
            <a:ext cx="5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hbox() — 带标题的高亮信息框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00000" y="1900000"/>
            <a:ext cx="5600000" cy="1800000"/>
          </a:xfrm>
          <a:prstGeom prst="rect">
            <a:avLst/>
          </a:prstGeom>
          <a:solidFill>
            <a:srgbClr val="E8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80000" y="1960000"/>
            <a:ext cx="544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7AE60"/>
                </a:solidFill>
                <a:latin typeface="微软雅黑"/>
              </a:rPr>
              <a:t>优点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0000" y="2230000"/>
            <a:ext cx="5440000" cy="1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100" b="0">
                <a:solidFill>
                  <a:srgbClr val="2D3436"/>
                </a:solidFill>
                <a:latin typeface="微软雅黑"/>
              </a:rPr>
              <a:t>支持标题 + 多行内容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100" b="0">
                <a:solidFill>
                  <a:srgbClr val="2D3436"/>
                </a:solidFill>
                <a:latin typeface="微软雅黑"/>
              </a:rPr>
              <a:t>可自定义背景色和标题色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100" b="0">
                <a:solidFill>
                  <a:srgbClr val="2D3436"/>
                </a:solidFill>
                <a:latin typeface="微软雅黑"/>
              </a:rPr>
              <a:t>自带 bullet 列表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100" b="0">
                <a:solidFill>
                  <a:srgbClr val="2D3436"/>
                </a:solidFill>
                <a:latin typeface="微软雅黑"/>
              </a:rPr>
              <a:t>适合左右对比布局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00" y="4000000"/>
            <a:ext cx="11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双栏对比布局示例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000" y="4400000"/>
            <a:ext cx="5500000" cy="2000000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0000" y="4460000"/>
            <a:ext cx="534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方案 A：短期修复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0000" y="4730000"/>
            <a:ext cx="534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100" b="0">
                <a:solidFill>
                  <a:srgbClr val="2D3436"/>
                </a:solidFill>
                <a:latin typeface="微软雅黑"/>
              </a:rPr>
              <a:t>零成本实施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100" b="0">
                <a:solidFill>
                  <a:srgbClr val="2D3436"/>
                </a:solidFill>
                <a:latin typeface="微软雅黑"/>
              </a:rPr>
              <a:t>不需要重新编译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100" b="0">
                <a:solidFill>
                  <a:srgbClr val="2D3436"/>
                </a:solidFill>
                <a:latin typeface="微软雅黑"/>
              </a:rPr>
              <a:t>覆盖 80% 场景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0000" y="4400000"/>
            <a:ext cx="5600000" cy="2000000"/>
          </a:xfrm>
          <a:prstGeom prst="rect">
            <a:avLst/>
          </a:prstGeom>
          <a:solidFill>
            <a:srgbClr val="FEF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80000" y="4460000"/>
            <a:ext cx="544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4880F"/>
                </a:solidFill>
                <a:latin typeface="微软雅黑"/>
              </a:rPr>
              <a:t>方案 B：架构升级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0000" y="4730000"/>
            <a:ext cx="544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100" b="0">
                <a:solidFill>
                  <a:srgbClr val="2D3436"/>
                </a:solidFill>
                <a:latin typeface="微软雅黑"/>
              </a:rPr>
              <a:t>需要 1-3 个月开发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100" b="0">
                <a:solidFill>
                  <a:srgbClr val="2D3436"/>
                </a:solidFill>
                <a:latin typeface="微软雅黑"/>
              </a:rPr>
              <a:t>根本解决问题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100" b="0">
                <a:solidFill>
                  <a:srgbClr val="2D3436"/>
                </a:solidFill>
                <a:latin typeface="微软雅黑"/>
              </a:rPr>
              <a:t>覆盖 100% 场景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000" y="6508000"/>
            <a:ext cx="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D6D7E"/>
                </a:solidFill>
                <a:latin typeface="微软雅黑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5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5000"/>
            <a:ext cx="12192000" cy="32000"/>
          </a:xfrm>
          <a:prstGeom prst="rect">
            <a:avLst/>
          </a:prstGeom>
          <a:solidFill>
            <a:srgbClr val="1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0000" y="180000"/>
            <a:ext cx="100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B3A5C"/>
                </a:solidFill>
                <a:latin typeface="微软雅黑"/>
              </a:rPr>
              <a:t>徽章与章节标记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580000"/>
            <a:ext cx="10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D6D7E"/>
                </a:solidFill>
                <a:latin typeface="微软雅黑"/>
              </a:rPr>
              <a:t>badge + act_badge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58000"/>
            <a:ext cx="12192000" cy="10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50000" y="880000"/>
            <a:ext cx="11300000" cy="45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50000" y="940000"/>
            <a:ext cx="1200000" cy="34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第四幕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0000" y="955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0392B"/>
                </a:solidFill>
                <a:latin typeface="微软雅黑"/>
              </a:rPr>
              <a:t>徽章与章节标记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000" y="1500000"/>
            <a:ext cx="5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badge() — 序号/标签徽章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0000" y="1950000"/>
            <a:ext cx="700000" cy="40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00000" y="1950000"/>
            <a:ext cx="700000" cy="400000"/>
          </a:xfrm>
          <a:prstGeom prst="rect">
            <a:avLst/>
          </a:prstGeom>
          <a:solidFill>
            <a:srgbClr val="1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0000" y="1950000"/>
            <a:ext cx="700000" cy="400000"/>
          </a:xfrm>
          <a:prstGeom prst="rect">
            <a:avLst/>
          </a:prstGeom>
          <a:solidFill>
            <a:srgbClr val="D48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00000" y="1950000"/>
            <a:ext cx="700000" cy="4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P0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0000" y="1950000"/>
            <a:ext cx="700000" cy="400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0" y="1950000"/>
            <a:ext cx="700000" cy="400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00" y="2700000"/>
            <a:ext cx="11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act_badge() — 章节标记条（每一幕的开头）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000" y="3200000"/>
            <a:ext cx="11300000" cy="45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50000" y="3260000"/>
            <a:ext cx="1200000" cy="34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第一幕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0000" y="3275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0392B"/>
                </a:solidFill>
                <a:latin typeface="微软雅黑"/>
              </a:rPr>
              <a:t>问题发现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0000" y="3750000"/>
            <a:ext cx="11300000" cy="45000"/>
          </a:xfrm>
          <a:prstGeom prst="rect">
            <a:avLst/>
          </a:prstGeom>
          <a:solidFill>
            <a:srgbClr val="1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50000" y="3810000"/>
            <a:ext cx="1200000" cy="340000"/>
          </a:xfrm>
          <a:prstGeom prst="rect">
            <a:avLst/>
          </a:prstGeom>
          <a:solidFill>
            <a:srgbClr val="1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第二幕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50000" y="3825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8A8A"/>
                </a:solidFill>
                <a:latin typeface="微软雅黑"/>
              </a:rPr>
              <a:t>系统测试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0000" y="4300000"/>
            <a:ext cx="11300000" cy="45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50000" y="4360000"/>
            <a:ext cx="1200000" cy="340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第三幕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50000" y="4375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7AE60"/>
                </a:solidFill>
                <a:latin typeface="微软雅黑"/>
              </a:rPr>
              <a:t>解决方案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0000" y="4850000"/>
            <a:ext cx="11300000" cy="45000"/>
          </a:xfrm>
          <a:prstGeom prst="rect">
            <a:avLst/>
          </a:prstGeom>
          <a:solidFill>
            <a:srgbClr val="D48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50000" y="4910000"/>
            <a:ext cx="1200000" cy="340000"/>
          </a:xfrm>
          <a:prstGeom prst="rect">
            <a:avLst/>
          </a:prstGeom>
          <a:solidFill>
            <a:srgbClr val="D48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第四幕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0000" y="4925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4880F"/>
                </a:solidFill>
                <a:latin typeface="微软雅黑"/>
              </a:rPr>
              <a:t>竞品对比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0000" y="5500000"/>
            <a:ext cx="11300000" cy="800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0000" y="5540000"/>
            <a:ext cx="111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100">
                <a:solidFill>
                  <a:srgbClr val="E0E0E0"/>
                </a:solidFill>
                <a:latin typeface="Courier New"/>
              </a:rPr>
              <a:t>badge(s, l, t, w, h, 'P0', C['red'], C=C)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endParaRPr sz="1100">
              <a:solidFill>
                <a:srgbClr val="E0E0E0"/>
              </a:solidFill>
              <a:latin typeface="Courier New"/>
            </a:endParaRP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100">
                <a:solidFill>
                  <a:srgbClr val="E0E0E0"/>
                </a:solidFill>
                <a:latin typeface="Courier New"/>
              </a:rPr>
              <a:t>act_badge(s, Emu(350000), Emu(880000), '一', '章节标题', C['teal'], C=C)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000" y="6508000"/>
            <a:ext cx="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D6D7E"/>
                </a:solidFill>
                <a:latin typeface="微软雅黑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5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5000"/>
            <a:ext cx="12192000" cy="32000"/>
          </a:xfrm>
          <a:prstGeom prst="rect">
            <a:avLst/>
          </a:prstGeom>
          <a:solidFill>
            <a:srgbClr val="1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0000" y="180000"/>
            <a:ext cx="100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B3A5C"/>
                </a:solidFill>
                <a:latin typeface="微软雅黑"/>
              </a:rPr>
              <a:t>富文本列表 &amp; 配色方案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580000"/>
            <a:ext cx="10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D6D7E"/>
                </a:solidFill>
                <a:latin typeface="微软雅黑"/>
              </a:rPr>
              <a:t>rl + create_prs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58000"/>
            <a:ext cx="12192000" cy="10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00000" y="950000"/>
            <a:ext cx="5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rl() — 每行独立样式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00" y="1400000"/>
            <a:ext cx="50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400" b="1">
                <a:solidFill>
                  <a:srgbClr val="C0392B"/>
                </a:solidFill>
                <a:latin typeface="微软雅黑"/>
              </a:rPr>
              <a:t>★ P0：立即执行的修复</a:t>
            </a: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400" b="1">
                <a:solidFill>
                  <a:srgbClr val="D4880F"/>
                </a:solidFill>
                <a:latin typeface="微软雅黑"/>
              </a:rPr>
              <a:t>★ P1：短期优化方案</a:t>
            </a: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400" b="1">
                <a:solidFill>
                  <a:srgbClr val="1A8A8A"/>
                </a:solidFill>
                <a:latin typeface="微软雅黑"/>
              </a:rPr>
              <a:t>★ P2：中期架构升级</a:t>
            </a: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200" b="0">
                <a:solidFill>
                  <a:srgbClr val="2D3436"/>
                </a:solidFill>
                <a:latin typeface="微软雅黑"/>
              </a:rPr>
              <a:t>— 普通文本行</a:t>
            </a: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Char char="•"/>
            </a:pPr>
            <a:r>
              <a:rPr sz="1100" b="0">
                <a:solidFill>
                  <a:srgbClr val="5D6D7E"/>
                </a:solidFill>
                <a:latin typeface="微软雅黑"/>
              </a:rPr>
              <a:t>— 灰色注释行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0000" y="950000"/>
            <a:ext cx="5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3 套内置配色方案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100000" y="1400000"/>
          <a:ext cx="6000000" cy="2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方案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主色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辅色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适用场景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2D3436"/>
                          </a:solidFill>
                          <a:latin typeface="微软雅黑"/>
                        </a:rPr>
                        <a:t>navy_teal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2D3436"/>
                          </a:solidFill>
                          <a:latin typeface="微软雅黑"/>
                        </a:rPr>
                        <a:t>Navy #1B3A5C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2D3436"/>
                          </a:solidFill>
                          <a:latin typeface="微软雅黑"/>
                        </a:rPr>
                        <a:t>Teal #1A8A8A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2D3436"/>
                          </a:solidFill>
                          <a:latin typeface="微软雅黑"/>
                        </a:rPr>
                        <a:t>技术汇报、产品分析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2D3436"/>
                          </a:solidFill>
                          <a:latin typeface="微软雅黑"/>
                        </a:rPr>
                        <a:t>tech_dark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2D3436"/>
                          </a:solidFill>
                          <a:latin typeface="微软雅黑"/>
                        </a:rPr>
                        <a:t>Dark #0F0F23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2D3436"/>
                          </a:solidFill>
                          <a:latin typeface="微软雅黑"/>
                        </a:rPr>
                        <a:t>Cyan #00D9FF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2D3436"/>
                          </a:solidFill>
                          <a:latin typeface="微软雅黑"/>
                        </a:rPr>
                        <a:t>AI/科技、深色演示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2D3436"/>
                          </a:solidFill>
                          <a:latin typeface="微软雅黑"/>
                        </a:rPr>
                        <a:t>corporate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2D3436"/>
                          </a:solidFill>
                          <a:latin typeface="微软雅黑"/>
                        </a:rPr>
                        <a:t>Blue #2E5C9A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2D3436"/>
                          </a:solidFill>
                          <a:latin typeface="微软雅黑"/>
                        </a:rPr>
                        <a:t>Blue #2E5C9A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2D3436"/>
                          </a:solidFill>
                          <a:latin typeface="微软雅黑"/>
                        </a:rPr>
                        <a:t>企业正式、白底蓝头</a:t>
                      </a:r>
                    </a:p>
                  </a:txBody>
                  <a:tcPr anchor="ctr">
                    <a:solidFill>
                      <a:srgbClr val="E8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50000" y="4000000"/>
            <a:ext cx="11300000" cy="2400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0000" y="4040000"/>
            <a:ext cx="11180000" cy="2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E0E0E0"/>
                </a:solidFill>
                <a:latin typeface="Courier New"/>
              </a:rPr>
              <a:t># 富文本列表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E0E0E0"/>
                </a:solidFill>
                <a:latin typeface="Courier New"/>
              </a:rPr>
              <a:t>items = [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E0E0E0"/>
                </a:solidFill>
                <a:latin typeface="Courier New"/>
              </a:rPr>
              <a:t>    ('P0 紧急修复', 14, True, C['red']),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E0E0E0"/>
                </a:solidFill>
                <a:latin typeface="Courier New"/>
              </a:rPr>
              <a:t>    ('P1 优化方案', 14, True, C['amber']),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E0E0E0"/>
                </a:solidFill>
                <a:latin typeface="Courier New"/>
              </a:rPr>
              <a:t>    ('普通说明',    12, False, C['black']),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E0E0E0"/>
                </a:solidFill>
                <a:latin typeface="Courier New"/>
              </a:rPr>
              <a:t>]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E0E0E0"/>
                </a:solidFill>
                <a:latin typeface="Courier New"/>
              </a:rPr>
              <a:t>rl(s, l, t, w, h, items, ls=1.5, C=C)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endParaRPr sz="1000">
              <a:solidFill>
                <a:srgbClr val="E0E0E0"/>
              </a:solidFill>
              <a:latin typeface="Courier New"/>
            </a:endParaRP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E0E0E0"/>
                </a:solidFill>
                <a:latin typeface="Courier New"/>
              </a:rPr>
              <a:t># 批次执行 builders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E0E0E0"/>
                </a:solidFill>
                <a:latin typeface="Courier New"/>
              </a:rPr>
              <a:t>builder_batches = [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E0E0E0"/>
                </a:solidFill>
                <a:latin typeface="Courier New"/>
              </a:rPr>
              <a:t>    [build_slide_01, build_slide_02],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E0E0E0"/>
                </a:solidFill>
                <a:latin typeface="Courier New"/>
              </a:rPr>
              <a:t>]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E0E0E0"/>
                </a:solidFill>
                <a:latin typeface="Courier New"/>
              </a:rPr>
              <a:t>prs, C = create_prs('corporate')   # 企业正式风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000" y="6508000"/>
            <a:ext cx="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D6D7E"/>
                </a:solidFill>
                <a:latin typeface="微软雅黑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600000"/>
            <a:ext cx="12192000" cy="50000"/>
          </a:xfrm>
          <a:prstGeom prst="rect">
            <a:avLst/>
          </a:prstGeom>
          <a:solidFill>
            <a:srgbClr val="1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400000"/>
            <a:ext cx="12192000" cy="50000"/>
          </a:xfrm>
          <a:prstGeom prst="rect">
            <a:avLst/>
          </a:prstGeom>
          <a:solidFill>
            <a:srgbClr val="1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0000" y="2900000"/>
            <a:ext cx="105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</a:rPr>
              <a:t>pptx_helpers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00" y="35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DC3C7"/>
                </a:solidFill>
                <a:latin typeface="微软雅黑"/>
              </a:rPr>
              <a:t>元素级组件库  ·  开箱即用  ·  专为复杂混合布局设计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4700000"/>
            <a:ext cx="10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A8A8A"/>
                </a:solidFill>
                <a:latin typeface="Courier New"/>
              </a:rPr>
              <a:t>github.com/Ami-zhang/pptx-creator-agent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000" y="6508000"/>
            <a:ext cx="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D6D7E"/>
                </a:solidFill>
                <a:latin typeface="微软雅黑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797</Words>
  <Application>Microsoft Office PowerPoint</Application>
  <PresentationFormat>宽屏</PresentationFormat>
  <Paragraphs>205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3" baseType="lpstr">
      <vt:lpstr>微软雅黑</vt:lpstr>
      <vt:lpstr>Arial</vt:lpstr>
      <vt:lpstr>Calibri</vt:lpstr>
      <vt:lpstr>Courier New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Limin Zhang(张丽敏)</cp:lastModifiedBy>
  <cp:revision>2</cp:revision>
  <dcterms:created xsi:type="dcterms:W3CDTF">2013-01-27T09:14:16Z</dcterms:created>
  <dcterms:modified xsi:type="dcterms:W3CDTF">2026-03-19T10:13:43Z</dcterms:modified>
  <cp:category/>
</cp:coreProperties>
</file>